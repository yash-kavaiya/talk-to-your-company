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2f0c064-3236-a11c-3586-5de1f84b99a9}">
          <p14:sldIdLst>
            <p14:sldId id="256"/>
          </p14:sldIdLst>
        </p14:section>
        <p14:section name="The problem" id="{a8360980-8f3b-dee9-043c-a6b531c2395a}">
          <p14:sldIdLst>
            <p14:sldId id="257"/>
            <p14:sldId id="258"/>
            <p14:sldId id="259"/>
          </p14:sldIdLst>
        </p14:section>
        <p14:section name="What it does" id="{e6ad1b6f-6340-6eb8-bfe2-a90f8bc2277a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How it works" id="{df1820e4-7348-525d-72d4-87ca05a17dfd}">
          <p14:sldIdLst>
            <p14:sldId id="269"/>
            <p14:sldId id="270"/>
            <p14:sldId id="271"/>
            <p14:sldId id="272"/>
          </p14:sldIdLst>
        </p14:section>
        <p14:section name="Status and demo" id="{cb7184c1-37dc-3aac-8d44-baeb35189bef}">
          <p14:sldIdLst>
            <p14:sldId id="273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D9D9D9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D9D9D9"/>
                </a:solidFill>
                <a:latin typeface="+mn-lt"/>
              </a:rPr>
              <a:t>Memory budget (GB)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Memory budget (GB)</c:v>
                </c:pt>
              </c:strCache>
            </c:strRef>
          </c:tx>
          <c:spPr>
            <a:solidFill>
              <a:srgbClr val="76B90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Headroom</c:v>
                  </c:pt>
                  <c:pt idx="1">
                    <c:v>App and buffers</c:v>
                  </c:pt>
                  <c:pt idx="2">
                    <c:v>Speech synthesis</c:v>
                  </c:pt>
                  <c:pt idx="3">
                    <c:v>Detector</c:v>
                  </c:pt>
                  <c:pt idx="4">
                    <c:v>Speech recognition</c:v>
                  </c:pt>
                  <c:pt idx="5">
                    <c:v>Vision-language model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0.3</c:v>
                </c:pt>
                <c:pt idx="3">
                  <c:v>1</c:v>
                </c:pt>
                <c:pt idx="4">
                  <c:v>1.5</c:v>
                </c:pt>
                <c:pt idx="5">
                  <c:v>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D9D9D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</c:scaling>
        <c:delete val="0"/>
        <c:axPos val="b"/>
        <c:majorGridlines>
          <c:spPr>
            <a:ln w="9525" cap="flat">
              <a:solidFill>
                <a:srgbClr val="2A2A2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6A6A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twin. One sentence: a live 3D twin of two plants that you talk to, built to run on a single Jetson Thor.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manager is always looking at the wrong screen. Four pains, then the need.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idea in one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simulated site in the screenshot: smooth, and identical in behaviour to the real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about the layout is in code. A new site is a new YAML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to talk, or type. The assistant must call a tool before stating any fact about the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are plain functions over tracks, unit-tested. Same-person repeats are debounced for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video and real detection, recorded on a laptop CPU.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Useful with judges: let them hand you a clip.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synthetic-data line out loud. To use real staff, the badge feed is the one piece to replace.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is built from the event row, not generated freely.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lane is perception for six streams. Bottom lane is voice. The assistant's tools read the event store and the live 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budget from the plan. It has not been measured on the Jetson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model fails on stage, that backend falls back to its mock at startup and the rest keeps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direct about this: nothing has run on a Jetson yet. The code paths for the real models have run on CPU with small stand-in models.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one unscripted question from a judge.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value is the time between something happening and someone knowing.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line, then go to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3949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Title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51206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Subtitle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331720"/>
            <a:ext cx="7315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spc="4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b="1" spc="400" kern="0" dirty="0">
                <a:solidFill>
                  <a:schemeClr val="tx1"/>
                </a:solidFill>
              </a:rPr>
              <a:t>SECTION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788920"/>
            <a:ext cx="110642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Section title</a:t>
            </a:r>
            <a:endParaRPr lang="en-US" sz="6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1060704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Statement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4206240"/>
            <a:ext cx="9601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Support</a:t>
            </a:r>
            <a:endParaRPr lang="en-US" sz="2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Slide title</a:t>
            </a:r>
            <a:endParaRPr lang="en-US" sz="30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Talk-to-your-Company  ·  Globant Physical AI Hackathon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Talk-to-your-Company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 live 3D twin of your plants that you can talk to, built for one NVIDIA Jetson Thor</a:t>
            </a:r>
            <a:endParaRPr lang="en-US" sz="2000" dirty="0"/>
          </a:p>
        </p:txBody>
      </p:sp>
      <p:sp>
        <p:nvSpPr>
          <p:cNvPr id="4" name="Byline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Yash Kavaiya  ·  Globant Physical AI Hackathon  ·  October 2026</a:t>
            </a:r>
            <a:endParaRPr lang="en-US" sz="1400" dirty="0"/>
          </a:p>
        </p:txBody>
      </p:sp>
      <p:sp>
        <p:nvSpPr>
          <p:cNvPr id="5" name="Cover picture frame"/>
          <p:cNvSpPr/>
          <p:nvPr/>
        </p:nvSpPr>
        <p:spPr>
          <a:xfrm>
            <a:off x="5989320" y="1572768"/>
            <a:ext cx="5724144" cy="3283839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pic>
        <p:nvPicPr>
          <p:cNvPr id="6" name="The live twin" descr="Screenshot of the live 3D twin showing two pla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2472" y="1645920"/>
            <a:ext cx="5577840" cy="31375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331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spc="400" kern="0" dirty="0">
                <a:solidFill>
                  <a:schemeClr val="tx1"/>
                </a:solidFill>
              </a:rPr>
              <a:t>SECTION 1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78892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The problem</a:t>
            </a:r>
            <a:endParaRPr lang="en-US" sz="6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Safety events go unseen because nobody can watch every camera</a:t>
            </a:r>
            <a:endParaRPr lang="en-US" sz="3000" dirty="0"/>
          </a:p>
        </p:txBody>
      </p:sp>
      <p:sp>
        <p:nvSpPr>
          <p:cNvPr id="4" name="Chip 1"/>
          <p:cNvSpPr/>
          <p:nvPr/>
        </p:nvSpPr>
        <p:spPr>
          <a:xfrm>
            <a:off x="548640" y="181965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hip 1 text"/>
          <p:cNvSpPr txBox="1"/>
          <p:nvPr/>
        </p:nvSpPr>
        <p:spPr>
          <a:xfrm>
            <a:off x="548640" y="1819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Problem 1 head"/>
          <p:cNvSpPr txBox="1"/>
          <p:nvPr/>
        </p:nvSpPr>
        <p:spPr>
          <a:xfrm>
            <a:off x="1188720" y="17830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Events go unreported</a:t>
            </a:r>
            <a:endParaRPr lang="en-US" sz="1800" dirty="0"/>
          </a:p>
        </p:txBody>
      </p:sp>
      <p:sp>
        <p:nvSpPr>
          <p:cNvPr id="7" name="Problem 1 body"/>
          <p:cNvSpPr txBox="1"/>
          <p:nvPr/>
        </p:nvSpPr>
        <p:spPr>
          <a:xfrm>
            <a:off x="1188720" y="2167128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Near-misses, people in restricted zones and missing helmets slip by.</a:t>
            </a:r>
            <a:endParaRPr lang="en-US" sz="1400" dirty="0"/>
          </a:p>
        </p:txBody>
      </p:sp>
      <p:sp>
        <p:nvSpPr>
          <p:cNvPr id="8" name="Chip 2"/>
          <p:cNvSpPr/>
          <p:nvPr/>
        </p:nvSpPr>
        <p:spPr>
          <a:xfrm>
            <a:off x="548640" y="2843784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hip 2 text"/>
          <p:cNvSpPr txBox="1"/>
          <p:nvPr/>
        </p:nvSpPr>
        <p:spPr>
          <a:xfrm>
            <a:off x="548640" y="28437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Problem 2 head"/>
          <p:cNvSpPr txBox="1"/>
          <p:nvPr/>
        </p:nvSpPr>
        <p:spPr>
          <a:xfrm>
            <a:off x="1188720" y="280720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Simple questions are slow</a:t>
            </a:r>
            <a:endParaRPr lang="en-US" sz="1800" dirty="0"/>
          </a:p>
        </p:txBody>
      </p:sp>
      <p:sp>
        <p:nvSpPr>
          <p:cNvPr id="11" name="Problem 2 body"/>
          <p:cNvSpPr txBox="1"/>
          <p:nvPr/>
        </p:nvSpPr>
        <p:spPr>
          <a:xfrm>
            <a:off x="1188720" y="3191256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“What is happening on floor 3?” means walking there or calling someone.</a:t>
            </a:r>
            <a:endParaRPr lang="en-US" sz="1400" dirty="0"/>
          </a:p>
        </p:txBody>
      </p:sp>
      <p:sp>
        <p:nvSpPr>
          <p:cNvPr id="12" name="Chip 3"/>
          <p:cNvSpPr/>
          <p:nvPr/>
        </p:nvSpPr>
        <p:spPr>
          <a:xfrm>
            <a:off x="548640" y="386791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hip 3 text"/>
          <p:cNvSpPr txBox="1"/>
          <p:nvPr/>
        </p:nvSpPr>
        <p:spPr>
          <a:xfrm>
            <a:off x="548640" y="38679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Problem 3 head"/>
          <p:cNvSpPr txBox="1"/>
          <p:nvPr/>
        </p:nvSpPr>
        <p:spPr>
          <a:xfrm>
            <a:off x="1188720" y="383133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Camera walls do not answer</a:t>
            </a:r>
            <a:endParaRPr lang="en-US" sz="1800" dirty="0"/>
          </a:p>
        </p:txBody>
      </p:sp>
      <p:sp>
        <p:nvSpPr>
          <p:cNvPr id="15" name="Problem 3 body"/>
          <p:cNvSpPr txBox="1"/>
          <p:nvPr/>
        </p:nvSpPr>
        <p:spPr>
          <a:xfrm>
            <a:off x="1188720" y="4215384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They show video. They cannot be asked anything.</a:t>
            </a:r>
            <a:endParaRPr lang="en-US" sz="1400" dirty="0"/>
          </a:p>
        </p:txBody>
      </p:sp>
      <p:sp>
        <p:nvSpPr>
          <p:cNvPr id="16" name="Chip 4"/>
          <p:cNvSpPr/>
          <p:nvPr/>
        </p:nvSpPr>
        <p:spPr>
          <a:xfrm>
            <a:off x="548640" y="489204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hip 4 text"/>
          <p:cNvSpPr txBox="1"/>
          <p:nvPr/>
        </p:nvSpPr>
        <p:spPr>
          <a:xfrm>
            <a:off x="548640" y="4892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Problem 4 head"/>
          <p:cNvSpPr txBox="1"/>
          <p:nvPr/>
        </p:nvSpPr>
        <p:spPr>
          <a:xfrm>
            <a:off x="1188720" y="48554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Cloud video is a poor fit</a:t>
            </a:r>
            <a:endParaRPr lang="en-US" sz="1800" dirty="0"/>
          </a:p>
        </p:txBody>
      </p:sp>
      <p:sp>
        <p:nvSpPr>
          <p:cNvPr id="19" name="Problem 4 body"/>
          <p:cNvSpPr txBox="1"/>
          <p:nvPr/>
        </p:nvSpPr>
        <p:spPr>
          <a:xfrm>
            <a:off x="1188720" y="5239512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Sending factory video off site is slow, costly and often not allowed.</a:t>
            </a:r>
            <a:endParaRPr lang="en-US" sz="1400" dirty="0"/>
          </a:p>
        </p:txBody>
      </p:sp>
      <p:sp>
        <p:nvSpPr>
          <p:cNvPr id="20" name="Need card"/>
          <p:cNvSpPr/>
          <p:nvPr/>
        </p:nvSpPr>
        <p:spPr>
          <a:xfrm>
            <a:off x="7498080" y="1874520"/>
            <a:ext cx="4142232" cy="3749040"/>
          </a:xfrm>
          <a:prstGeom prst="roundRect">
            <a:avLst>
              <a:gd name="adj" fmla="val 292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Need label"/>
          <p:cNvSpPr txBox="1"/>
          <p:nvPr/>
        </p:nvSpPr>
        <p:spPr>
          <a:xfrm>
            <a:off x="7818120" y="21945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2"/>
                </a:solidFill>
              </a:rPr>
              <a:t>THE NEED</a:t>
            </a:r>
            <a:endParaRPr lang="en-US" sz="1200" dirty="0"/>
          </a:p>
        </p:txBody>
      </p:sp>
      <p:sp>
        <p:nvSpPr>
          <p:cNvPr id="22" name="Need text"/>
          <p:cNvSpPr txBox="1"/>
          <p:nvPr/>
        </p:nvSpPr>
        <p:spPr>
          <a:xfrm>
            <a:off x="7818120" y="2606040"/>
            <a:ext cx="3520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One view of the whole site, and a way to ask it things.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A live 3D twin of your company that you can talk to.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420624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Ask by voice. The twin flies to the right floor, shows what the cameras see, and answers out loud.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331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spc="400" kern="0" dirty="0">
                <a:solidFill>
                  <a:schemeClr val="tx1"/>
                </a:solidFill>
              </a:rPr>
              <a:t>SECTION 2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78892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What it does</a:t>
            </a:r>
            <a:endParaRPr lang="en-US" sz="6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Both plants and all six floors are live in one view</a:t>
            </a:r>
            <a:endParaRPr lang="en-US" sz="3000" dirty="0"/>
          </a:p>
        </p:txBody>
      </p:sp>
      <p:sp>
        <p:nvSpPr>
          <p:cNvPr id="4" name="Both plants and all six floors are live in one view frame"/>
          <p:cNvSpPr/>
          <p:nvPr/>
        </p:nvSpPr>
        <p:spPr>
          <a:xfrm>
            <a:off x="521208" y="1709928"/>
            <a:ext cx="6638544" cy="3758184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5" name="Both plants and all six floors are live in one view" descr="Both plants and all six floors are live in one 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6583680" cy="3703320"/>
          </a:xfrm>
          <a:prstGeom prst="rect">
            <a:avLst/>
          </a:prstGeom>
        </p:spPr>
      </p:pic>
      <p:sp>
        <p:nvSpPr>
          <p:cNvPr id="6" name="Lead"/>
          <p:cNvSpPr txBox="1"/>
          <p:nvPr/>
        </p:nvSpPr>
        <p:spPr>
          <a:xfrm>
            <a:off x="7589520" y="1691640"/>
            <a:ext cx="40507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Every person and vehicle the cameras see is a marker on the right floor.</a:t>
            </a:r>
            <a:endParaRPr lang="en-US" sz="2200" dirty="0"/>
          </a:p>
        </p:txBody>
      </p:sp>
      <p:sp>
        <p:nvSpPr>
          <p:cNvPr id="7" name="Points"/>
          <p:cNvSpPr txBox="1"/>
          <p:nvPr/>
        </p:nvSpPr>
        <p:spPr>
          <a:xfrm>
            <a:off x="7589520" y="2971800"/>
            <a:ext cx="405079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2 plants, 3 floors each, 6 cameras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Positions update 5 times a second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Pulsing red markers for safety events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The whole site is generated from one configuration file</a:t>
            </a:r>
            <a:endParaRPr lang="en-US" sz="3000" dirty="0"/>
          </a:p>
        </p:txBody>
      </p:sp>
      <p:sp>
        <p:nvSpPr>
          <p:cNvPr id="4" name="The whole site is generated from one configuration file frame"/>
          <p:cNvSpPr/>
          <p:nvPr/>
        </p:nvSpPr>
        <p:spPr>
          <a:xfrm>
            <a:off x="5029200" y="1709928"/>
            <a:ext cx="6638544" cy="3758184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5" name="The whole site is generated from one configuration file" descr="The whole site is generated from one configuration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6632" y="1737360"/>
            <a:ext cx="6583680" cy="3703320"/>
          </a:xfrm>
          <a:prstGeom prst="rect">
            <a:avLst/>
          </a:prstGeom>
        </p:spPr>
      </p:pic>
      <p:sp>
        <p:nvSpPr>
          <p:cNvPr id="6" name="Lead"/>
          <p:cNvSpPr txBox="1"/>
          <p:nvPr/>
        </p:nvSpPr>
        <p:spPr>
          <a:xfrm>
            <a:off x="548640" y="1691640"/>
            <a:ext cx="40507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Select a plant and its floors spread apart to show what is inside.</a:t>
            </a:r>
            <a:endParaRPr lang="en-US" sz="2200" dirty="0"/>
          </a:p>
        </p:txBody>
      </p:sp>
      <p:sp>
        <p:nvSpPr>
          <p:cNvPr id="7" name="Points"/>
          <p:cNvSpPr txBox="1"/>
          <p:nvPr/>
        </p:nvSpPr>
        <p:spPr>
          <a:xfrm>
            <a:off x="548640" y="2971800"/>
            <a:ext cx="405079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Plants, floors, cameras and zones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Conveyors, racks, machines, pallets, offices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Change the file and the twin, the rules and the assistant all follow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You ask in plain language, by voice or by text</a:t>
            </a:r>
            <a:endParaRPr lang="en-US" sz="3000" dirty="0"/>
          </a:p>
        </p:txBody>
      </p:sp>
      <p:sp>
        <p:nvSpPr>
          <p:cNvPr id="4" name="You ask in plain language, by voice or by text frame"/>
          <p:cNvSpPr/>
          <p:nvPr/>
        </p:nvSpPr>
        <p:spPr>
          <a:xfrm>
            <a:off x="521208" y="1709928"/>
            <a:ext cx="6638544" cy="3390595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5" name="You ask in plain language, by voice or by text" descr="You ask in plain language, by voice or by 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6583680" cy="3335731"/>
          </a:xfrm>
          <a:prstGeom prst="rect">
            <a:avLst/>
          </a:prstGeom>
        </p:spPr>
      </p:pic>
      <p:sp>
        <p:nvSpPr>
          <p:cNvPr id="6" name="Lead"/>
          <p:cNvSpPr txBox="1"/>
          <p:nvPr/>
        </p:nvSpPr>
        <p:spPr>
          <a:xfrm>
            <a:off x="7589520" y="1691640"/>
            <a:ext cx="40507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The answer is spoken, shown as text, and drives the twin.</a:t>
            </a:r>
            <a:endParaRPr lang="en-US" sz="2200" dirty="0"/>
          </a:p>
        </p:txBody>
      </p:sp>
      <p:sp>
        <p:nvSpPr>
          <p:cNvPr id="7" name="Points"/>
          <p:cNvSpPr txBox="1"/>
          <p:nvPr/>
        </p:nvSpPr>
        <p:spPr>
          <a:xfrm>
            <a:off x="7589520" y="2971800"/>
            <a:ext cx="405079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“Give me a status of both plants”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“Show me Plant 2, floor 3” moves the camera there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Out-of-scope questions get an honest “I can’t see that”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Four rules turn tracks into safety events on the right floor</a:t>
            </a:r>
            <a:endParaRPr lang="en-US" sz="3000" dirty="0"/>
          </a:p>
        </p:txBody>
      </p:sp>
      <p:graphicFrame>
        <p:nvGraphicFramePr>
          <p:cNvPr id="10" name="Rul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51206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Event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Raised when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Near miss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a person is within 2 m of a closing forklift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Restricted zone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a person stays inside for over 2 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No helmet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the vision check on a person says no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Crowding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more than 4 people are within 3 m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sp>
        <p:nvSpPr>
          <p:cNvPr id="5" name="Rules note"/>
          <p:cNvSpPr txBox="1"/>
          <p:nvPr/>
        </p:nvSpPr>
        <p:spPr>
          <a:xfrm>
            <a:off x="548640" y="45262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Events are stored and can be asked about by plant, floor, type and time.</a:t>
            </a:r>
            <a:endParaRPr lang="en-US" sz="1600" dirty="0"/>
          </a:p>
        </p:txBody>
      </p:sp>
      <p:sp>
        <p:nvSpPr>
          <p:cNvPr id="6" name="Safety events highlighted on the twin frame"/>
          <p:cNvSpPr/>
          <p:nvPr/>
        </p:nvSpPr>
        <p:spPr>
          <a:xfrm>
            <a:off x="6144768" y="1709928"/>
            <a:ext cx="5522976" cy="3130677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7" name="Safety events highlighted on the twin" descr="Safety events highlighted on the tw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737360"/>
            <a:ext cx="5468112" cy="307581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Every floor has a live camera view with detections boxed</a:t>
            </a:r>
            <a:endParaRPr lang="en-US" sz="3000" dirty="0"/>
          </a:p>
        </p:txBody>
      </p:sp>
      <p:sp>
        <p:nvSpPr>
          <p:cNvPr id="4" name="Every floor has a live camera view with detections boxed frame"/>
          <p:cNvSpPr/>
          <p:nvPr/>
        </p:nvSpPr>
        <p:spPr>
          <a:xfrm>
            <a:off x="521208" y="1709928"/>
            <a:ext cx="5998464" cy="4092026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5" name="Every floor has a live camera view with detections boxed" descr="Every floor has a live camera view with detections box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5943600" cy="4037162"/>
          </a:xfrm>
          <a:prstGeom prst="rect">
            <a:avLst/>
          </a:prstGeom>
        </p:spPr>
      </p:pic>
      <p:sp>
        <p:nvSpPr>
          <p:cNvPr id="6" name="Lead"/>
          <p:cNvSpPr txBox="1"/>
          <p:nvPr/>
        </p:nvSpPr>
        <p:spPr>
          <a:xfrm>
            <a:off x="6949440" y="1691640"/>
            <a:ext cx="4690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Focus a floor and its camera appears beside the twin.</a:t>
            </a:r>
            <a:endParaRPr lang="en-US" sz="2200" dirty="0"/>
          </a:p>
        </p:txBody>
      </p:sp>
      <p:sp>
        <p:nvSpPr>
          <p:cNvPr id="7" name="Points"/>
          <p:cNvSpPr txBox="1"/>
          <p:nvPr/>
        </p:nvSpPr>
        <p:spPr>
          <a:xfrm>
            <a:off x="6949440" y="2971800"/>
            <a:ext cx="469087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The same detection that places the marker draws the box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One stream is shown at a time, so it stays light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Nothing is published beyond the one app port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Any camera can be fed from a recording or a webcam</a:t>
            </a:r>
            <a:endParaRPr lang="en-US" sz="3000" dirty="0"/>
          </a:p>
        </p:txBody>
      </p:sp>
      <p:sp>
        <p:nvSpPr>
          <p:cNvPr id="4" name="Any camera can be fed from a recording or a webcam frame"/>
          <p:cNvSpPr/>
          <p:nvPr/>
        </p:nvSpPr>
        <p:spPr>
          <a:xfrm>
            <a:off x="5212080" y="1709928"/>
            <a:ext cx="6455664" cy="3895344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5" name="Any camera can be fed from a recording or a webcam" descr="Any camera can be fed from a recording or a webc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1737360"/>
            <a:ext cx="6400800" cy="3840480"/>
          </a:xfrm>
          <a:prstGeom prst="rect">
            <a:avLst/>
          </a:prstGeom>
        </p:spPr>
      </p:pic>
      <p:sp>
        <p:nvSpPr>
          <p:cNvPr id="6" name="Lead"/>
          <p:cNvSpPr txBox="1"/>
          <p:nvPr/>
        </p:nvSpPr>
        <p:spPr>
          <a:xfrm>
            <a:off x="548640" y="1691640"/>
            <a:ext cx="4233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For a live demo, drop your own footage into a floor.</a:t>
            </a:r>
            <a:endParaRPr lang="en-US" sz="2200" dirty="0"/>
          </a:p>
        </p:txBody>
      </p:sp>
      <p:sp>
        <p:nvSpPr>
          <p:cNvPr id="7" name="Points"/>
          <p:cNvSpPr txBox="1"/>
          <p:nvPr/>
        </p:nvSpPr>
        <p:spPr>
          <a:xfrm>
            <a:off x="548640" y="2971800"/>
            <a:ext cx="423367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Recorded mp4 files, looped as live streams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A webcam shared from the browser, or attached to the machine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“Share recording”: pick a video file and it is analysed on the spot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The alert names the person, and one question gives the full picture</a:t>
            </a:r>
            <a:endParaRPr lang="en-US" sz="3000" dirty="0"/>
          </a:p>
        </p:txBody>
      </p:sp>
      <p:sp>
        <p:nvSpPr>
          <p:cNvPr id="4" name="The alert names the person, and one question gives the full picture frame"/>
          <p:cNvSpPr/>
          <p:nvPr/>
        </p:nvSpPr>
        <p:spPr>
          <a:xfrm>
            <a:off x="521208" y="1709928"/>
            <a:ext cx="4535424" cy="4155716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5" name="The alert names the person, and one question gives the full picture" descr="The alert names the person, and one question gives the full pi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4480560" cy="4100852"/>
          </a:xfrm>
          <a:prstGeom prst="rect">
            <a:avLst/>
          </a:prstGeom>
        </p:spPr>
      </p:pic>
      <p:sp>
        <p:nvSpPr>
          <p:cNvPr id="6" name="Lead"/>
          <p:cNvSpPr txBox="1"/>
          <p:nvPr/>
        </p:nvSpPr>
        <p:spPr>
          <a:xfrm>
            <a:off x="5486400" y="1691640"/>
            <a:ext cx="6153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“Who is this person?”</a:t>
            </a:r>
            <a:endParaRPr lang="en-US" sz="2200" dirty="0"/>
          </a:p>
        </p:txBody>
      </p:sp>
      <p:sp>
        <p:nvSpPr>
          <p:cNvPr id="7" name="Points"/>
          <p:cNvSpPr txBox="1"/>
          <p:nvPr/>
        </p:nvSpPr>
        <p:spPr>
          <a:xfrm>
            <a:off x="5486400" y="2971800"/>
            <a:ext cx="615391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Name, role, shift, supervisor and training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When they entered, when the alert fired, how long they stayed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Whether they were authorised for that zone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Where they are now, and their other incidents today</a:t>
            </a:r>
            <a:endParaRPr lang="en-US" sz="1800" dirty="0"/>
          </a:p>
        </p:txBody>
      </p:sp>
      <p:sp>
        <p:nvSpPr>
          <p:cNvPr id="8" name="Note"/>
          <p:cNvSpPr txBox="1"/>
          <p:nvPr/>
        </p:nvSpPr>
        <p:spPr>
          <a:xfrm>
            <a:off x="5486400" y="5532120"/>
            <a:ext cx="6153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Employees are fictional. Identity comes from a simulated badge feed, not from face recognition.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One more sentence writes the incident report</a:t>
            </a:r>
            <a:endParaRPr lang="en-US" sz="3000" dirty="0"/>
          </a:p>
        </p:txBody>
      </p:sp>
      <p:sp>
        <p:nvSpPr>
          <p:cNvPr id="4" name="One more sentence writes the incident report frame"/>
          <p:cNvSpPr/>
          <p:nvPr/>
        </p:nvSpPr>
        <p:spPr>
          <a:xfrm>
            <a:off x="7132320" y="1709928"/>
            <a:ext cx="4535424" cy="4155716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5" name="One more sentence writes the incident report" descr="One more sentence writes the incident re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2" y="1737360"/>
            <a:ext cx="4480560" cy="4100852"/>
          </a:xfrm>
          <a:prstGeom prst="rect">
            <a:avLst/>
          </a:prstGeom>
        </p:spPr>
      </p:pic>
      <p:sp>
        <p:nvSpPr>
          <p:cNvPr id="6" name="Lead"/>
          <p:cNvSpPr txBox="1"/>
          <p:nvPr/>
        </p:nvSpPr>
        <p:spPr>
          <a:xfrm>
            <a:off x="548640" y="1691640"/>
            <a:ext cx="6153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“Write the incident report.”</a:t>
            </a:r>
            <a:endParaRPr lang="en-US" sz="2200" dirty="0"/>
          </a:p>
        </p:txBody>
      </p:sp>
      <p:sp>
        <p:nvSpPr>
          <p:cNvPr id="7" name="Points"/>
          <p:cNvSpPr txBox="1"/>
          <p:nvPr/>
        </p:nvSpPr>
        <p:spPr>
          <a:xfrm>
            <a:off x="548640" y="2971800"/>
            <a:ext cx="615391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What, where, when, who, severity and recommended action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Filled from the stored event, so it cannot contain invented facts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The camera snapshot from the moment of the alert is attached</a:t>
            </a:r>
            <a:endParaRPr lang="en-US" sz="1800" dirty="0"/>
          </a:p>
        </p:txBody>
      </p:sp>
      <p:sp>
        <p:nvSpPr>
          <p:cNvPr id="8" name="Note"/>
          <p:cNvSpPr txBox="1"/>
          <p:nvPr/>
        </p:nvSpPr>
        <p:spPr>
          <a:xfrm>
            <a:off x="548640" y="5532120"/>
            <a:ext cx="6153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From alert to written report without leaving the twin.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331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spc="400" kern="0" dirty="0">
                <a:solidFill>
                  <a:schemeClr val="tx1"/>
                </a:solidFill>
              </a:rPr>
              <a:t>SECTION 3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78892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How it works</a:t>
            </a:r>
            <a:endParaRPr lang="en-US" sz="6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One process on one device takes video to a spoken answer</a:t>
            </a:r>
            <a:endParaRPr lang="en-US" sz="3000" dirty="0"/>
          </a:p>
        </p:txBody>
      </p:sp>
      <p:sp>
        <p:nvSpPr>
          <p:cNvPr id="4" name="Lane 1 label"/>
          <p:cNvSpPr txBox="1"/>
          <p:nvPr/>
        </p:nvSpPr>
        <p:spPr>
          <a:xfrm>
            <a:off x="68580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4"/>
                </a:solidFill>
              </a:rPr>
              <a:t>PERCEPTION, 6 STREAMS</a:t>
            </a:r>
            <a:endParaRPr lang="en-US" sz="1100" dirty="0"/>
          </a:p>
        </p:txBody>
      </p:sp>
      <p:sp>
        <p:nvSpPr>
          <p:cNvPr id="5" name="Node Cameras"/>
          <p:cNvSpPr/>
          <p:nvPr/>
        </p:nvSpPr>
        <p:spPr>
          <a:xfrm>
            <a:off x="685800" y="2194560"/>
            <a:ext cx="1481328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6" name="Node Cameras text"/>
          <p:cNvSpPr txBox="1"/>
          <p:nvPr/>
        </p:nvSpPr>
        <p:spPr>
          <a:xfrm>
            <a:off x="685800" y="219456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Cameras</a:t>
            </a:r>
            <a:endParaRPr lang="en-US" sz="1300" dirty="0"/>
          </a:p>
        </p:txBody>
      </p:sp>
      <p:sp>
        <p:nvSpPr>
          <p:cNvPr id="7" name="Node Ingest"/>
          <p:cNvSpPr/>
          <p:nvPr/>
        </p:nvSpPr>
        <p:spPr>
          <a:xfrm>
            <a:off x="2532888" y="2194560"/>
            <a:ext cx="14813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Node Ingest text"/>
          <p:cNvSpPr txBox="1"/>
          <p:nvPr/>
        </p:nvSpPr>
        <p:spPr>
          <a:xfrm>
            <a:off x="2532888" y="219456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Ingest</a:t>
            </a:r>
            <a:endParaRPr lang="en-US" sz="1300" dirty="0"/>
          </a:p>
        </p:txBody>
      </p:sp>
      <p:sp>
        <p:nvSpPr>
          <p:cNvPr id="9" name="Node Detector"/>
          <p:cNvSpPr/>
          <p:nvPr/>
        </p:nvSpPr>
        <p:spPr>
          <a:xfrm>
            <a:off x="4379976" y="2194560"/>
            <a:ext cx="14813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Node Detector text"/>
          <p:cNvSpPr txBox="1"/>
          <p:nvPr/>
        </p:nvSpPr>
        <p:spPr>
          <a:xfrm>
            <a:off x="4379976" y="219456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Detector</a:t>
            </a:r>
            <a:endParaRPr lang="en-US" sz="1300" dirty="0"/>
          </a:p>
        </p:txBody>
      </p:sp>
      <p:sp>
        <p:nvSpPr>
          <p:cNvPr id="11" name="Node Track + map"/>
          <p:cNvSpPr/>
          <p:nvPr/>
        </p:nvSpPr>
        <p:spPr>
          <a:xfrm>
            <a:off x="6227064" y="2194560"/>
            <a:ext cx="14813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Node Track + map text"/>
          <p:cNvSpPr txBox="1"/>
          <p:nvPr/>
        </p:nvSpPr>
        <p:spPr>
          <a:xfrm>
            <a:off x="6227064" y="219456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+ map</a:t>
            </a:r>
            <a:endParaRPr lang="en-US" sz="1300" dirty="0"/>
          </a:p>
        </p:txBody>
      </p:sp>
      <p:sp>
        <p:nvSpPr>
          <p:cNvPr id="13" name="Node Rules"/>
          <p:cNvSpPr/>
          <p:nvPr/>
        </p:nvSpPr>
        <p:spPr>
          <a:xfrm>
            <a:off x="8074152" y="2194560"/>
            <a:ext cx="14813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Node Rules text"/>
          <p:cNvSpPr txBox="1"/>
          <p:nvPr/>
        </p:nvSpPr>
        <p:spPr>
          <a:xfrm>
            <a:off x="8074152" y="219456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Rules</a:t>
            </a:r>
            <a:endParaRPr lang="en-US" sz="1300" dirty="0"/>
          </a:p>
        </p:txBody>
      </p:sp>
      <p:sp>
        <p:nvSpPr>
          <p:cNvPr id="15" name="Node Event store"/>
          <p:cNvSpPr/>
          <p:nvPr/>
        </p:nvSpPr>
        <p:spPr>
          <a:xfrm>
            <a:off x="9921240" y="2194560"/>
            <a:ext cx="1481328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Node Event store text"/>
          <p:cNvSpPr txBox="1"/>
          <p:nvPr/>
        </p:nvSpPr>
        <p:spPr>
          <a:xfrm>
            <a:off x="9921240" y="219456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Event store</a:t>
            </a:r>
            <a:endParaRPr lang="en-US" sz="1300" dirty="0"/>
          </a:p>
        </p:txBody>
      </p:sp>
      <p:sp>
        <p:nvSpPr>
          <p:cNvPr id="17" name="Arrow 0 2.4"/>
          <p:cNvSpPr/>
          <p:nvPr/>
        </p:nvSpPr>
        <p:spPr>
          <a:xfrm>
            <a:off x="2167128" y="2478024"/>
            <a:ext cx="3657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8" name="Arrow 1 2.4"/>
          <p:cNvSpPr/>
          <p:nvPr/>
        </p:nvSpPr>
        <p:spPr>
          <a:xfrm>
            <a:off x="4014216" y="2478024"/>
            <a:ext cx="3657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9" name="Arrow 2 2.4"/>
          <p:cNvSpPr/>
          <p:nvPr/>
        </p:nvSpPr>
        <p:spPr>
          <a:xfrm>
            <a:off x="5861304" y="2478024"/>
            <a:ext cx="3657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0" name="Arrow 3 2.4"/>
          <p:cNvSpPr/>
          <p:nvPr/>
        </p:nvSpPr>
        <p:spPr>
          <a:xfrm>
            <a:off x="7708392" y="2478024"/>
            <a:ext cx="3657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1" name="Arrow 4 2.4"/>
          <p:cNvSpPr/>
          <p:nvPr/>
        </p:nvSpPr>
        <p:spPr>
          <a:xfrm>
            <a:off x="9555480" y="2478024"/>
            <a:ext cx="3657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Lane 2 label"/>
          <p:cNvSpPr txBox="1"/>
          <p:nvPr/>
        </p:nvSpPr>
        <p:spPr>
          <a:xfrm>
            <a:off x="685800" y="3337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4"/>
                </a:solidFill>
              </a:rPr>
              <a:t>VOICE</a:t>
            </a:r>
            <a:endParaRPr lang="en-US" sz="1100" dirty="0"/>
          </a:p>
        </p:txBody>
      </p:sp>
      <p:sp>
        <p:nvSpPr>
          <p:cNvPr id="23" name="Node Microphone"/>
          <p:cNvSpPr/>
          <p:nvPr/>
        </p:nvSpPr>
        <p:spPr>
          <a:xfrm>
            <a:off x="685800" y="3749040"/>
            <a:ext cx="1481328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4" name="Node Microphone text"/>
          <p:cNvSpPr txBox="1"/>
          <p:nvPr/>
        </p:nvSpPr>
        <p:spPr>
          <a:xfrm>
            <a:off x="685800" y="374904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Microphone</a:t>
            </a:r>
            <a:endParaRPr lang="en-US" sz="1300" dirty="0"/>
          </a:p>
        </p:txBody>
      </p:sp>
      <p:sp>
        <p:nvSpPr>
          <p:cNvPr id="25" name="Node Speech in"/>
          <p:cNvSpPr/>
          <p:nvPr/>
        </p:nvSpPr>
        <p:spPr>
          <a:xfrm>
            <a:off x="2532888" y="3749040"/>
            <a:ext cx="14813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Node Speech in text"/>
          <p:cNvSpPr txBox="1"/>
          <p:nvPr/>
        </p:nvSpPr>
        <p:spPr>
          <a:xfrm>
            <a:off x="2532888" y="374904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Speech in</a:t>
            </a:r>
            <a:endParaRPr lang="en-US" sz="1300" dirty="0"/>
          </a:p>
        </p:txBody>
      </p:sp>
      <p:sp>
        <p:nvSpPr>
          <p:cNvPr id="27" name="Node Agent + tools"/>
          <p:cNvSpPr/>
          <p:nvPr/>
        </p:nvSpPr>
        <p:spPr>
          <a:xfrm>
            <a:off x="4379976" y="3749040"/>
            <a:ext cx="1481328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Node Agent + tools text"/>
          <p:cNvSpPr txBox="1"/>
          <p:nvPr/>
        </p:nvSpPr>
        <p:spPr>
          <a:xfrm>
            <a:off x="4379976" y="374904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Agent + tools</a:t>
            </a:r>
            <a:endParaRPr lang="en-US" sz="1300" dirty="0"/>
          </a:p>
        </p:txBody>
      </p:sp>
      <p:sp>
        <p:nvSpPr>
          <p:cNvPr id="29" name="Node Speech out"/>
          <p:cNvSpPr/>
          <p:nvPr/>
        </p:nvSpPr>
        <p:spPr>
          <a:xfrm>
            <a:off x="6227064" y="3749040"/>
            <a:ext cx="14813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Node Speech out text"/>
          <p:cNvSpPr txBox="1"/>
          <p:nvPr/>
        </p:nvSpPr>
        <p:spPr>
          <a:xfrm>
            <a:off x="6227064" y="374904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Speech out</a:t>
            </a:r>
            <a:endParaRPr lang="en-US" sz="1300" dirty="0"/>
          </a:p>
        </p:txBody>
      </p:sp>
      <p:sp>
        <p:nvSpPr>
          <p:cNvPr id="31" name="Node Browser twin"/>
          <p:cNvSpPr/>
          <p:nvPr/>
        </p:nvSpPr>
        <p:spPr>
          <a:xfrm>
            <a:off x="9921240" y="3749040"/>
            <a:ext cx="1481328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2" name="Node Browser twin text"/>
          <p:cNvSpPr txBox="1"/>
          <p:nvPr/>
        </p:nvSpPr>
        <p:spPr>
          <a:xfrm>
            <a:off x="9921240" y="374904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Browser twin</a:t>
            </a:r>
            <a:endParaRPr lang="en-US" sz="1300" dirty="0"/>
          </a:p>
        </p:txBody>
      </p:sp>
      <p:sp>
        <p:nvSpPr>
          <p:cNvPr id="33" name="Arrow 0 4.1"/>
          <p:cNvSpPr/>
          <p:nvPr/>
        </p:nvSpPr>
        <p:spPr>
          <a:xfrm>
            <a:off x="2167128" y="4032504"/>
            <a:ext cx="3657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4" name="Arrow 1 4.1"/>
          <p:cNvSpPr/>
          <p:nvPr/>
        </p:nvSpPr>
        <p:spPr>
          <a:xfrm>
            <a:off x="4014216" y="4032504"/>
            <a:ext cx="3657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5" name="Arrow 2 4.1"/>
          <p:cNvSpPr/>
          <p:nvPr/>
        </p:nvSpPr>
        <p:spPr>
          <a:xfrm>
            <a:off x="5861304" y="4032504"/>
            <a:ext cx="3657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6" name="Arrow 3 4.1"/>
          <p:cNvSpPr/>
          <p:nvPr/>
        </p:nvSpPr>
        <p:spPr>
          <a:xfrm>
            <a:off x="7708392" y="4032504"/>
            <a:ext cx="2212848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7" name="Label answer"/>
          <p:cNvSpPr txBox="1"/>
          <p:nvPr/>
        </p:nvSpPr>
        <p:spPr>
          <a:xfrm>
            <a:off x="7708392" y="406908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answer and speech</a:t>
            </a:r>
            <a:endParaRPr lang="en-US" sz="1100" dirty="0"/>
          </a:p>
        </p:txBody>
      </p:sp>
      <p:sp>
        <p:nvSpPr>
          <p:cNvPr id="38" name="Arrow store to browser"/>
          <p:cNvSpPr/>
          <p:nvPr/>
        </p:nvSpPr>
        <p:spPr>
          <a:xfrm>
            <a:off x="10661904" y="2761488"/>
            <a:ext cx="0" cy="987552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9" name="Label state"/>
          <p:cNvSpPr txBox="1"/>
          <p:nvPr/>
        </p:nvSpPr>
        <p:spPr>
          <a:xfrm>
            <a:off x="10753344" y="30358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state, events</a:t>
            </a:r>
            <a:endParaRPr lang="en-US" sz="1100" dirty="0"/>
          </a:p>
        </p:txBody>
      </p:sp>
      <p:sp>
        <p:nvSpPr>
          <p:cNvPr id="40" name="Arrow store to agent"/>
          <p:cNvSpPr/>
          <p:nvPr/>
        </p:nvSpPr>
        <p:spPr>
          <a:xfrm flipH="1">
            <a:off x="5861304" y="2761488"/>
            <a:ext cx="4059936" cy="987552"/>
          </a:xfrm>
          <a:prstGeom prst="line">
            <a:avLst/>
          </a:prstGeom>
          <a:noFill/>
          <a:ln w="15875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41" name="Label tools"/>
          <p:cNvSpPr txBox="1"/>
          <p:nvPr/>
        </p:nvSpPr>
        <p:spPr>
          <a:xfrm>
            <a:off x="4749394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tools read events and live state</a:t>
            </a:r>
            <a:endParaRPr lang="en-US" sz="1100" dirty="0"/>
          </a:p>
        </p:txBody>
      </p:sp>
      <p:sp>
        <p:nvSpPr>
          <p:cNvPr id="42" name="Points"/>
          <p:cNvSpPr txBox="1"/>
          <p:nvPr/>
        </p:nvSpPr>
        <p:spPr>
          <a:xfrm>
            <a:off x="548640" y="48463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One vision-language model serves the conversation and the “look at this frame” tool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Seven tools: events, live state, look, focus, show event, identify person, write report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The planned model stack leaves headroom inside 15 GB</a:t>
            </a:r>
            <a:endParaRPr lang="en-US" sz="3000" dirty="0"/>
          </a:p>
        </p:txBody>
      </p:sp>
      <p:graphicFrame>
        <p:nvGraphicFramePr>
          <p:cNvPr id="4" name="Memory budget chart" descr="Bar chart of the planned memory budget per component in GB"/>
          <p:cNvGraphicFramePr/>
          <p:nvPr/>
        </p:nvGraphicFramePr>
        <p:xfrm>
          <a:off x="548640" y="16459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Lead"/>
          <p:cNvSpPr txBox="1"/>
          <p:nvPr/>
        </p:nvSpPr>
        <p:spPr>
          <a:xfrm>
            <a:off x="7772400" y="16916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12.8 of 15 GB budgeted.</a:t>
            </a:r>
            <a:endParaRPr lang="en-US" sz="2200" dirty="0"/>
          </a:p>
        </p:txBody>
      </p:sp>
      <p:sp>
        <p:nvSpPr>
          <p:cNvPr id="6" name="Points"/>
          <p:cNvSpPr txBox="1"/>
          <p:nvPr/>
        </p:nvSpPr>
        <p:spPr>
          <a:xfrm>
            <a:off x="7772400" y="2377440"/>
            <a:ext cx="3840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3B-class vision-language model, half precision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Whisper for speech in, Piper for speech out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YOLO exported to TensorRT, one batch for all streams</a:t>
            </a:r>
            <a:endParaRPr lang="en-US" sz="1800" dirty="0"/>
          </a:p>
        </p:txBody>
      </p:sp>
      <p:sp>
        <p:nvSpPr>
          <p:cNvPr id="7" name="Budget note"/>
          <p:cNvSpPr txBox="1"/>
          <p:nvPr/>
        </p:nvSpPr>
        <p:spPr>
          <a:xfrm>
            <a:off x="7772400" y="48920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This is the plan. The figures still have to be measured on the Jetson.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Every heavy component has a mock, so the demo cannot die</a:t>
            </a:r>
            <a:endParaRPr lang="en-US" sz="3000" dirty="0"/>
          </a:p>
        </p:txBody>
      </p:sp>
      <p:graphicFrame>
        <p:nvGraphicFramePr>
          <p:cNvPr id="18" name="Mock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657600"/>
                <a:gridCol w="52395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Component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Real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Mock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Perception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video, detector, tracker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simulated people, scripted scenarios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Assistant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vision-language model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keyword router calling the same tools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Speech in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Whisper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fixed question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Speech out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Piper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chime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sp>
        <p:nvSpPr>
          <p:cNvPr id="5" name="Points"/>
          <p:cNvSpPr txBox="1"/>
          <p:nvPr/>
        </p:nvSpPr>
        <p:spPr>
          <a:xfrm>
            <a:off x="548640" y="4434840"/>
            <a:ext cx="11091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A backend that fails to load falls back to its mock at startup, and the app says which is running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The whole app runs on a laptop without a GPU, which is how it was built and tested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331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spc="400" kern="0" dirty="0">
                <a:solidFill>
                  <a:schemeClr val="tx1"/>
                </a:solidFill>
              </a:rPr>
              <a:t>SECTION 4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78892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Status and demo</a:t>
            </a:r>
            <a:endParaRPr lang="en-US" sz="6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The software is proven on a laptop; the Jetson run is the next step</a:t>
            </a:r>
            <a:endParaRPr lang="en-US" sz="3000" dirty="0"/>
          </a:p>
        </p:txBody>
      </p:sp>
      <p:sp>
        <p:nvSpPr>
          <p:cNvPr id="4" name="Stat 1 value"/>
          <p:cNvSpPr txBox="1"/>
          <p:nvPr/>
        </p:nvSpPr>
        <p:spPr>
          <a:xfrm>
            <a:off x="548640" y="16002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77</a:t>
            </a:r>
            <a:endParaRPr lang="en-US" sz="6400" dirty="0"/>
          </a:p>
        </p:txBody>
      </p:sp>
      <p:sp>
        <p:nvSpPr>
          <p:cNvPr id="5" name="Stat 1 label"/>
          <p:cNvSpPr txBox="1"/>
          <p:nvPr/>
        </p:nvSpPr>
        <p:spPr>
          <a:xfrm>
            <a:off x="548640" y="2560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automated tests passing</a:t>
            </a:r>
            <a:endParaRPr lang="en-US" sz="1400" dirty="0"/>
          </a:p>
        </p:txBody>
      </p:sp>
      <p:sp>
        <p:nvSpPr>
          <p:cNvPr id="6" name="Stat 2 value"/>
          <p:cNvSpPr txBox="1"/>
          <p:nvPr/>
        </p:nvSpPr>
        <p:spPr>
          <a:xfrm>
            <a:off x="4343400" y="16002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2"/>
                </a:solidFill>
              </a:rPr>
              <a:t>6</a:t>
            </a:r>
            <a:endParaRPr lang="en-US" sz="6400" dirty="0"/>
          </a:p>
        </p:txBody>
      </p:sp>
      <p:sp>
        <p:nvSpPr>
          <p:cNvPr id="7" name="Stat 2 label"/>
          <p:cNvSpPr txBox="1"/>
          <p:nvPr/>
        </p:nvSpPr>
        <p:spPr>
          <a:xfrm>
            <a:off x="4343400" y="2560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camera streams detected together on a laptop CPU</a:t>
            </a:r>
            <a:endParaRPr lang="en-US" sz="1400" dirty="0"/>
          </a:p>
        </p:txBody>
      </p:sp>
      <p:sp>
        <p:nvSpPr>
          <p:cNvPr id="8" name="Stat 3 value"/>
          <p:cNvSpPr txBox="1"/>
          <p:nvPr/>
        </p:nvSpPr>
        <p:spPr>
          <a:xfrm>
            <a:off x="8138160" y="16002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4"/>
                </a:solidFill>
              </a:rPr>
              <a:t>0</a:t>
            </a:r>
            <a:endParaRPr lang="en-US" sz="6400" dirty="0"/>
          </a:p>
        </p:txBody>
      </p:sp>
      <p:sp>
        <p:nvSpPr>
          <p:cNvPr id="9" name="Stat 3 label"/>
          <p:cNvSpPr txBox="1"/>
          <p:nvPr/>
        </p:nvSpPr>
        <p:spPr>
          <a:xfrm>
            <a:off x="8138160" y="2560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runs on a Jetson so far</a:t>
            </a:r>
            <a:endParaRPr lang="en-US" sz="1400" dirty="0"/>
          </a:p>
        </p:txBody>
      </p:sp>
      <p:sp>
        <p:nvSpPr>
          <p:cNvPr id="10" name="Status 1 head"/>
          <p:cNvSpPr txBox="1"/>
          <p:nvPr/>
        </p:nvSpPr>
        <p:spPr>
          <a:xfrm>
            <a:off x="548640" y="34747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Shown working</a:t>
            </a:r>
            <a:endParaRPr lang="en-US" sz="1800" dirty="0"/>
          </a:p>
        </p:txBody>
      </p:sp>
      <p:sp>
        <p:nvSpPr>
          <p:cNvPr id="11" name="Points"/>
          <p:cNvSpPr txBox="1"/>
          <p:nvPr/>
        </p:nvSpPr>
        <p:spPr>
          <a:xfrm>
            <a:off x="548640" y="3977640"/>
            <a:ext cx="5303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Twin, events, conversation, report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Real detection, speech in and speech out on CPU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Webcam and shared recording</a:t>
            </a:r>
            <a:endParaRPr lang="en-US" sz="1800" dirty="0"/>
          </a:p>
        </p:txBody>
      </p:sp>
      <p:sp>
        <p:nvSpPr>
          <p:cNvPr id="12" name="Status 2 head"/>
          <p:cNvSpPr txBox="1"/>
          <p:nvPr/>
        </p:nvSpPr>
        <p:spPr>
          <a:xfrm>
            <a:off x="6217920" y="34747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Still to prove on the Jetson</a:t>
            </a:r>
            <a:endParaRPr lang="en-US" sz="1800" dirty="0"/>
          </a:p>
        </p:txBody>
      </p:sp>
      <p:sp>
        <p:nvSpPr>
          <p:cNvPr id="13" name="Points"/>
          <p:cNvSpPr txBox="1"/>
          <p:nvPr/>
        </p:nvSpPr>
        <p:spPr>
          <a:xfrm>
            <a:off x="6217920" y="3977640"/>
            <a:ext cx="5303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Hardware video decode and TensorRT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3B model picks tools, 13 of 15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10 fps on 6 streams, voice under 2.5 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The demo is seven steps, from overview to incident report</a:t>
            </a:r>
            <a:endParaRPr lang="en-US" sz="3000" dirty="0"/>
          </a:p>
        </p:txBody>
      </p:sp>
      <p:sp>
        <p:nvSpPr>
          <p:cNvPr id="4" name="Chip 1"/>
          <p:cNvSpPr/>
          <p:nvPr/>
        </p:nvSpPr>
        <p:spPr>
          <a:xfrm>
            <a:off x="548640" y="182880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hip 1 text"/>
          <p:cNvSpPr txBox="1"/>
          <p:nvPr/>
        </p:nvSpPr>
        <p:spPr>
          <a:xfrm>
            <a:off x="54864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Step 1"/>
          <p:cNvSpPr txBox="1"/>
          <p:nvPr/>
        </p:nvSpPr>
        <p:spPr>
          <a:xfrm>
            <a:off x="1188720" y="182880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Twin loads: six streams live, metrics visible</a:t>
            </a:r>
            <a:endParaRPr lang="en-US" sz="1800" dirty="0"/>
          </a:p>
        </p:txBody>
      </p:sp>
      <p:sp>
        <p:nvSpPr>
          <p:cNvPr id="7" name="Chip 2"/>
          <p:cNvSpPr/>
          <p:nvPr/>
        </p:nvSpPr>
        <p:spPr>
          <a:xfrm>
            <a:off x="548640" y="269748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Chip 2 text"/>
          <p:cNvSpPr txBox="1"/>
          <p:nvPr/>
        </p:nvSpPr>
        <p:spPr>
          <a:xfrm>
            <a:off x="548640" y="2697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Step 2"/>
          <p:cNvSpPr txBox="1"/>
          <p:nvPr/>
        </p:nvSpPr>
        <p:spPr>
          <a:xfrm>
            <a:off x="1188720" y="269748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“Give me a status of both plants”</a:t>
            </a:r>
            <a:endParaRPr lang="en-US" sz="1800" dirty="0"/>
          </a:p>
        </p:txBody>
      </p:sp>
      <p:sp>
        <p:nvSpPr>
          <p:cNvPr id="10" name="Chip 3"/>
          <p:cNvSpPr/>
          <p:nvPr/>
        </p:nvSpPr>
        <p:spPr>
          <a:xfrm>
            <a:off x="548640" y="356616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hip 3 text"/>
          <p:cNvSpPr txBox="1"/>
          <p:nvPr/>
        </p:nvSpPr>
        <p:spPr>
          <a:xfrm>
            <a:off x="548640" y="3566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Step 3"/>
          <p:cNvSpPr txBox="1"/>
          <p:nvPr/>
        </p:nvSpPr>
        <p:spPr>
          <a:xfrm>
            <a:off x="1188720" y="356616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“Show me Plant 2, floor 3”</a:t>
            </a:r>
            <a:endParaRPr lang="en-US" sz="1800" dirty="0"/>
          </a:p>
        </p:txBody>
      </p:sp>
      <p:sp>
        <p:nvSpPr>
          <p:cNvPr id="13" name="Chip 4"/>
          <p:cNvSpPr/>
          <p:nvPr/>
        </p:nvSpPr>
        <p:spPr>
          <a:xfrm>
            <a:off x="548640" y="443484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Chip 4 text"/>
          <p:cNvSpPr txBox="1"/>
          <p:nvPr/>
        </p:nvSpPr>
        <p:spPr>
          <a:xfrm>
            <a:off x="548640" y="4434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Step 4"/>
          <p:cNvSpPr txBox="1"/>
          <p:nvPr/>
        </p:nvSpPr>
        <p:spPr>
          <a:xfrm>
            <a:off x="1188720" y="443484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“Any safety issues in the last ten minutes?”</a:t>
            </a:r>
            <a:endParaRPr lang="en-US" sz="1800" dirty="0"/>
          </a:p>
        </p:txBody>
      </p:sp>
      <p:sp>
        <p:nvSpPr>
          <p:cNvPr id="16" name="Chip 5"/>
          <p:cNvSpPr/>
          <p:nvPr/>
        </p:nvSpPr>
        <p:spPr>
          <a:xfrm>
            <a:off x="6217920" y="182880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hip 5 text"/>
          <p:cNvSpPr txBox="1"/>
          <p:nvPr/>
        </p:nvSpPr>
        <p:spPr>
          <a:xfrm>
            <a:off x="621792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Step 5"/>
          <p:cNvSpPr txBox="1"/>
          <p:nvPr/>
        </p:nvSpPr>
        <p:spPr>
          <a:xfrm>
            <a:off x="6858000" y="182880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Click the restricted-zone alert on Plant 1, floor 2</a:t>
            </a:r>
            <a:endParaRPr lang="en-US" sz="1800" dirty="0"/>
          </a:p>
        </p:txBody>
      </p:sp>
      <p:sp>
        <p:nvSpPr>
          <p:cNvPr id="19" name="Chip 6"/>
          <p:cNvSpPr/>
          <p:nvPr/>
        </p:nvSpPr>
        <p:spPr>
          <a:xfrm>
            <a:off x="6217920" y="269748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hip 6 text"/>
          <p:cNvSpPr txBox="1"/>
          <p:nvPr/>
        </p:nvSpPr>
        <p:spPr>
          <a:xfrm>
            <a:off x="6217920" y="2697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</a:t>
            </a:r>
            <a:endParaRPr lang="en-US" sz="1400" dirty="0"/>
          </a:p>
        </p:txBody>
      </p:sp>
      <p:sp>
        <p:nvSpPr>
          <p:cNvPr id="21" name="Step 6"/>
          <p:cNvSpPr txBox="1"/>
          <p:nvPr/>
        </p:nvSpPr>
        <p:spPr>
          <a:xfrm>
            <a:off x="6858000" y="269748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“Who is this person?”</a:t>
            </a:r>
            <a:endParaRPr lang="en-US" sz="1800" dirty="0"/>
          </a:p>
        </p:txBody>
      </p:sp>
      <p:sp>
        <p:nvSpPr>
          <p:cNvPr id="22" name="Chip 7"/>
          <p:cNvSpPr/>
          <p:nvPr/>
        </p:nvSpPr>
        <p:spPr>
          <a:xfrm>
            <a:off x="6217920" y="356616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Chip 7 text"/>
          <p:cNvSpPr txBox="1"/>
          <p:nvPr/>
        </p:nvSpPr>
        <p:spPr>
          <a:xfrm>
            <a:off x="6217920" y="3566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7</a:t>
            </a:r>
            <a:endParaRPr lang="en-US" sz="1400" dirty="0"/>
          </a:p>
        </p:txBody>
      </p:sp>
      <p:sp>
        <p:nvSpPr>
          <p:cNvPr id="24" name="Step 7"/>
          <p:cNvSpPr txBox="1"/>
          <p:nvPr/>
        </p:nvSpPr>
        <p:spPr>
          <a:xfrm>
            <a:off x="6858000" y="356616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“Write the incident report”</a:t>
            </a:r>
            <a:endParaRPr lang="en-US" sz="1800" dirty="0"/>
          </a:p>
        </p:txBody>
      </p:sp>
      <p:sp>
        <p:nvSpPr>
          <p:cNvPr id="25" name="Judge card"/>
          <p:cNvSpPr/>
          <p:nvPr/>
        </p:nvSpPr>
        <p:spPr>
          <a:xfrm>
            <a:off x="6217920" y="4434840"/>
            <a:ext cx="5394960" cy="822960"/>
          </a:xfrm>
          <a:prstGeom prst="roundRect">
            <a:avLst>
              <a:gd name="adj" fmla="val 1111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Judge text"/>
          <p:cNvSpPr txBox="1"/>
          <p:nvPr/>
        </p:nvSpPr>
        <p:spPr>
          <a:xfrm>
            <a:off x="6446520" y="44348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Then one unscripted question from a judge.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Why it matters: answers at the speed of a question, with data that stays on site</a:t>
            </a:r>
            <a:endParaRPr lang="en-US" sz="3000" dirty="0"/>
          </a:p>
        </p:txBody>
      </p:sp>
      <p:sp>
        <p:nvSpPr>
          <p:cNvPr id="4" name="Value card 1"/>
          <p:cNvSpPr/>
          <p:nvPr/>
        </p:nvSpPr>
        <p:spPr>
          <a:xfrm>
            <a:off x="548640" y="1783080"/>
            <a:ext cx="5422392" cy="1737360"/>
          </a:xfrm>
          <a:prstGeom prst="roundRect">
            <a:avLst>
              <a:gd name="adj" fmla="val 526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Value 1 head"/>
          <p:cNvSpPr txBox="1"/>
          <p:nvPr/>
        </p:nvSpPr>
        <p:spPr>
          <a:xfrm>
            <a:off x="868680" y="203911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Safety</a:t>
            </a:r>
            <a:endParaRPr lang="en-US" sz="2000" dirty="0"/>
          </a:p>
        </p:txBody>
      </p:sp>
      <p:sp>
        <p:nvSpPr>
          <p:cNvPr id="6" name="Value 1 body"/>
          <p:cNvSpPr txBox="1"/>
          <p:nvPr/>
        </p:nvSpPr>
        <p:spPr>
          <a:xfrm>
            <a:off x="868680" y="251460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Events are seen, named and written up in the moment, not at the end of a shift.</a:t>
            </a:r>
            <a:endParaRPr lang="en-US" sz="1500" dirty="0"/>
          </a:p>
        </p:txBody>
      </p:sp>
      <p:sp>
        <p:nvSpPr>
          <p:cNvPr id="7" name="Value card 2"/>
          <p:cNvSpPr/>
          <p:nvPr/>
        </p:nvSpPr>
        <p:spPr>
          <a:xfrm>
            <a:off x="6217920" y="1783080"/>
            <a:ext cx="5422392" cy="1737360"/>
          </a:xfrm>
          <a:prstGeom prst="roundRect">
            <a:avLst>
              <a:gd name="adj" fmla="val 526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Value 2 head"/>
          <p:cNvSpPr txBox="1"/>
          <p:nvPr/>
        </p:nvSpPr>
        <p:spPr>
          <a:xfrm>
            <a:off x="6537960" y="203911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Operations</a:t>
            </a:r>
            <a:endParaRPr lang="en-US" sz="2000" dirty="0"/>
          </a:p>
        </p:txBody>
      </p:sp>
      <p:sp>
        <p:nvSpPr>
          <p:cNvPr id="9" name="Value 2 body"/>
          <p:cNvSpPr txBox="1"/>
          <p:nvPr/>
        </p:nvSpPr>
        <p:spPr>
          <a:xfrm>
            <a:off x="6537960" y="251460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One person can ask about any floor without walking to it.</a:t>
            </a:r>
            <a:endParaRPr lang="en-US" sz="1500" dirty="0"/>
          </a:p>
        </p:txBody>
      </p:sp>
      <p:sp>
        <p:nvSpPr>
          <p:cNvPr id="10" name="Value card 3"/>
          <p:cNvSpPr/>
          <p:nvPr/>
        </p:nvSpPr>
        <p:spPr>
          <a:xfrm>
            <a:off x="548640" y="3794760"/>
            <a:ext cx="5422392" cy="1737360"/>
          </a:xfrm>
          <a:prstGeom prst="roundRect">
            <a:avLst>
              <a:gd name="adj" fmla="val 526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Value 3 head"/>
          <p:cNvSpPr txBox="1"/>
          <p:nvPr/>
        </p:nvSpPr>
        <p:spPr>
          <a:xfrm>
            <a:off x="868680" y="40507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Privacy and cost</a:t>
            </a:r>
            <a:endParaRPr lang="en-US" sz="2000" dirty="0"/>
          </a:p>
        </p:txBody>
      </p:sp>
      <p:sp>
        <p:nvSpPr>
          <p:cNvPr id="12" name="Value 3 body"/>
          <p:cNvSpPr txBox="1"/>
          <p:nvPr/>
        </p:nvSpPr>
        <p:spPr>
          <a:xfrm>
            <a:off x="868680" y="45262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Audio and video are processed on one device, with no cloud calls at runtime.</a:t>
            </a:r>
            <a:endParaRPr lang="en-US" sz="1500" dirty="0"/>
          </a:p>
        </p:txBody>
      </p:sp>
      <p:sp>
        <p:nvSpPr>
          <p:cNvPr id="13" name="Value card 4"/>
          <p:cNvSpPr/>
          <p:nvPr/>
        </p:nvSpPr>
        <p:spPr>
          <a:xfrm>
            <a:off x="6217920" y="3794760"/>
            <a:ext cx="5422392" cy="1737360"/>
          </a:xfrm>
          <a:prstGeom prst="roundRect">
            <a:avLst>
              <a:gd name="adj" fmla="val 526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Value 4 head"/>
          <p:cNvSpPr txBox="1"/>
          <p:nvPr/>
        </p:nvSpPr>
        <p:spPr>
          <a:xfrm>
            <a:off x="6537960" y="40507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Fit</a:t>
            </a:r>
            <a:endParaRPr lang="en-US" sz="2000" dirty="0"/>
          </a:p>
        </p:txBody>
      </p:sp>
      <p:sp>
        <p:nvSpPr>
          <p:cNvPr id="15" name="Value 4 body"/>
          <p:cNvSpPr txBox="1"/>
          <p:nvPr/>
        </p:nvSpPr>
        <p:spPr>
          <a:xfrm>
            <a:off x="6537960" y="45262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A new site is a new configuration file, not a new project.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Ask your company a question. It shows you, and it tells you.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420624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Talk-to-your-Company. Globant Physical AI Hackathon, on NVIDIA Jetson Thor.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VIDIA Globant Twin">
  <a:themeElements>
    <a:clrScheme name="NVIDIA Globant Twin">
      <a:dk1>
        <a:srgbClr val="0B0B0B"/>
      </a:dk1>
      <a:lt1>
        <a:srgbClr val="FFFFFF"/>
      </a:lt1>
      <a:dk2>
        <a:srgbClr val="1A1A1A"/>
      </a:dk2>
      <a:lt2>
        <a:srgbClr val="D9D9D9"/>
      </a:lt2>
      <a:accent1>
        <a:srgbClr val="76B900"/>
      </a:accent1>
      <a:accent2>
        <a:srgbClr val="BFD732"/>
      </a:accent2>
      <a:accent3>
        <a:srgbClr val="5C8F00"/>
      </a:accent3>
      <a:accent4>
        <a:srgbClr val="A6A6A6"/>
      </a:accent4>
      <a:accent5>
        <a:srgbClr val="F56565"/>
      </a:accent5>
      <a:accent6>
        <a:srgbClr val="2A2A2A"/>
      </a:accent6>
      <a:hlink>
        <a:srgbClr val="BFD732"/>
      </a:hlink>
      <a:folHlink>
        <a:srgbClr val="A6A6A6"/>
      </a:folHlink>
    </a:clrScheme>
    <a:fontScheme name="NVIDIA Globant Twi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Globant Physical AI Hackathon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Talk-to-your-Company</dc:title>
  <dc:subject>PptxGenJS Presentation</dc:subject>
  <dc:creator>Yash Kavaiya</dc:creator>
  <cp:lastModifiedBy>Yash Kavaiya</cp:lastModifiedBy>
  <cp:revision>1</cp:revision>
  <dcterms:created xsi:type="dcterms:W3CDTF">2026-10-04T18:42:44Z</dcterms:created>
  <dcterms:modified xsi:type="dcterms:W3CDTF">2026-10-04T18:42:44Z</dcterms:modified>
</cp:coreProperties>
</file>