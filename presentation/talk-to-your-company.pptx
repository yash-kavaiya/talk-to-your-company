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a82faa1-9d7b-aec5-3cf7-ec3c893e41d8}">
          <p14:sldIdLst>
            <p14:sldId id="256"/>
          </p14:sldIdLst>
        </p14:section>
        <p14:section name="The problem" id="{2ad08da1-7462-c4e5-c63f-da527f7bd5e9}">
          <p14:sldIdLst>
            <p14:sldId id="257"/>
            <p14:sldId id="258"/>
            <p14:sldId id="259"/>
          </p14:sldIdLst>
        </p14:section>
        <p14:section name="What it does" id="{3ad0603b-ee57-bffb-41d2-a9a24789c39d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How it works" id="{c25e6439-c7cf-ce34-34c5-5ab21e5378d9}">
          <p14:sldIdLst>
            <p14:sldId id="269"/>
            <p14:sldId id="270"/>
            <p14:sldId id="271"/>
            <p14:sldId id="272"/>
          </p14:sldIdLst>
        </p14:section>
        <p14:section name="Architecture in detail" id="{0d0f2a17-1c62-8428-bd68-59d8340037a3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Status and demo" id="{5fd01868-c8ee-aa6e-ef2e-7f42e4220ea8}">
          <p14:sldIdLst>
            <p14:sldId id="287"/>
            <p14:sldId id="288"/>
            <p14:sldId id="289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D9D9D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D9D9D9"/>
                </a:solidFill>
                <a:latin typeface="+mn-lt"/>
              </a:rPr>
              <a:t>Memory budget (GB)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Memory budget (GB)</c:v>
                </c:pt>
              </c:strCache>
            </c:strRef>
          </c:tx>
          <c:spPr>
            <a:solidFill>
              <a:srgbClr val="76B9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Headroom</c:v>
                  </c:pt>
                  <c:pt idx="1">
                    <c:v>App and buffers</c:v>
                  </c:pt>
                  <c:pt idx="2">
                    <c:v>Speech synthesis</c:v>
                  </c:pt>
                  <c:pt idx="3">
                    <c:v>Detector</c:v>
                  </c:pt>
                  <c:pt idx="4">
                    <c:v>Speech recognition</c:v>
                  </c:pt>
                  <c:pt idx="5">
                    <c:v>Vision-language model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0.3</c:v>
                </c:pt>
                <c:pt idx="3">
                  <c:v>1</c:v>
                </c:pt>
                <c:pt idx="4">
                  <c:v>1.5</c:v>
                </c:pt>
                <c:pt idx="5">
                  <c:v>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9D9D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0"/>
        <c:axPos val="b"/>
        <c:majorGridlines>
          <c:spPr>
            <a:ln w="9525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6A6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twin. One sentence: a live 3D twin of two plants that you talk to, built to run on a single Jetson Thor.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manager is always looking at the wrong screen. Four pains, then the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idea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simulated site in the screenshot: smooth, and identical in behaviour to the real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about the layout is in code. A new site is a new YAML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to talk, or type. The assistant must call a tool before stating any fact about the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are plain functions over tracks, unit-tested. Same-person repeats are debounced for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video and real detection, recorded on a laptop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Useful with judges: let them hand you a clip.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synthetic-data line out loud. To use real staff, the badge feed is the one piece to replace.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report is built from the event row, not generated freely.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lane is perception for six streams. Bottom lane is voice. The assistant's tools read the event store and the live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budget from the plan. It has not been measured on the Jetson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model fails on stage, that backend falls back to its mock at startup and the rest keeps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FastAPI process. Perception in threads, a 5 Hz broadcast loop, and an async agent loop per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is one small module. The mock replaces all of them and still feeds the real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Thresholds are constants in app/events/rules.py. Each rule has unit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event row is the source of truth for the report and for every question about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message is a pydantic model in app/protocol.py; the field type tells them apart.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calling is JSON-constrained and parsed by the app, so it does not depend on a model's chat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laptop a keyword router calls the same seven tools, so the interface never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3.8 s was measured on a laptop CPU with the mock assistant. Nothing has been measured on the Jetson.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plainly: fictional people, a simulated badge feed, no face recognition.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bundler and no framework. Three.js is vendored, so the page loads with no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scripts are written and reviewed. They have not run on the device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is frozen in the spec; the plan and the tasks follow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has a fallback that is already in the code or the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 about this: nothing has run on a Jetson yet. The code paths for the real models have run on CPU with small stand-in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one unscripted question from a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 is the time between something happening and someone knowing.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line, then go 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394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Title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5120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Subtitle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spc="4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b="1" spc="400" kern="0" dirty="0">
                <a:solidFill>
                  <a:schemeClr val="tx1"/>
                </a:solidFill>
              </a:rPr>
              <a:t>SECTION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88920"/>
            <a:ext cx="11064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Section title</a:t>
            </a:r>
            <a:endParaRPr lang="en-US" sz="6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106070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Statement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206240"/>
            <a:ext cx="9601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Support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Slide title</a:t>
            </a: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Talk-to-your-Company  ·  Globant Physical AI Hackathon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Talk-to-your-Company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 live 3D twin of your plants that you can talk to, built for one NVIDIA Jetson Thor</a:t>
            </a:r>
            <a:endParaRPr lang="en-US" sz="2000" dirty="0"/>
          </a:p>
        </p:txBody>
      </p:sp>
      <p:sp>
        <p:nvSpPr>
          <p:cNvPr id="4" name="Byline"/>
          <p:cNvSpPr txBox="1"/>
          <p:nvPr/>
        </p:nvSpPr>
        <p:spPr>
          <a:xfrm>
            <a:off x="54864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Yash Kavaiya  ·  Globant Physical AI Hackathon  ·  October 2026</a:t>
            </a:r>
            <a:endParaRPr lang="en-US" sz="1400" dirty="0"/>
          </a:p>
        </p:txBody>
      </p:sp>
      <p:sp>
        <p:nvSpPr>
          <p:cNvPr id="5" name="Cover picture frame"/>
          <p:cNvSpPr/>
          <p:nvPr/>
        </p:nvSpPr>
        <p:spPr>
          <a:xfrm>
            <a:off x="5989320" y="1572768"/>
            <a:ext cx="5724144" cy="3283839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6" name="The live twin" descr="Screenshot of the live 3D twin showing two pla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2472" y="1645920"/>
            <a:ext cx="5577840" cy="31375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chemeClr val="tx1"/>
                </a:solidFill>
              </a:rPr>
              <a:t>SECTION 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889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The problem</a:t>
            </a:r>
            <a:endParaRPr lang="en-US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Safety events go unseen because nobody can watch every camera</a:t>
            </a:r>
            <a:endParaRPr lang="en-US" sz="3000" dirty="0"/>
          </a:p>
        </p:txBody>
      </p:sp>
      <p:sp>
        <p:nvSpPr>
          <p:cNvPr id="4" name="Chip 1"/>
          <p:cNvSpPr/>
          <p:nvPr/>
        </p:nvSpPr>
        <p:spPr>
          <a:xfrm>
            <a:off x="548640" y="18196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hip 1 text"/>
          <p:cNvSpPr txBox="1"/>
          <p:nvPr/>
        </p:nvSpPr>
        <p:spPr>
          <a:xfrm>
            <a:off x="548640" y="1819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Problem 1 head"/>
          <p:cNvSpPr txBox="1"/>
          <p:nvPr/>
        </p:nvSpPr>
        <p:spPr>
          <a:xfrm>
            <a:off x="118872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Events go unreported</a:t>
            </a:r>
            <a:endParaRPr lang="en-US" sz="1800" dirty="0"/>
          </a:p>
        </p:txBody>
      </p:sp>
      <p:sp>
        <p:nvSpPr>
          <p:cNvPr id="7" name="Problem 1 body"/>
          <p:cNvSpPr txBox="1"/>
          <p:nvPr/>
        </p:nvSpPr>
        <p:spPr>
          <a:xfrm>
            <a:off x="1188720" y="216712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Near-misses, people in restricted zones and missing helmets slip by.</a:t>
            </a:r>
            <a:endParaRPr lang="en-US" sz="1400" dirty="0"/>
          </a:p>
        </p:txBody>
      </p:sp>
      <p:sp>
        <p:nvSpPr>
          <p:cNvPr id="8" name="Chip 2"/>
          <p:cNvSpPr/>
          <p:nvPr/>
        </p:nvSpPr>
        <p:spPr>
          <a:xfrm>
            <a:off x="548640" y="28437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hip 2 text"/>
          <p:cNvSpPr txBox="1"/>
          <p:nvPr/>
        </p:nvSpPr>
        <p:spPr>
          <a:xfrm>
            <a:off x="548640" y="2843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Problem 2 head"/>
          <p:cNvSpPr txBox="1"/>
          <p:nvPr/>
        </p:nvSpPr>
        <p:spPr>
          <a:xfrm>
            <a:off x="1188720" y="28072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Simple questions are slow</a:t>
            </a:r>
            <a:endParaRPr lang="en-US" sz="1800" dirty="0"/>
          </a:p>
        </p:txBody>
      </p:sp>
      <p:sp>
        <p:nvSpPr>
          <p:cNvPr id="11" name="Problem 2 body"/>
          <p:cNvSpPr txBox="1"/>
          <p:nvPr/>
        </p:nvSpPr>
        <p:spPr>
          <a:xfrm>
            <a:off x="1188720" y="319125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“What is happening on floor 3?” means walking there or calling someone.</a:t>
            </a:r>
            <a:endParaRPr lang="en-US" sz="1400" dirty="0"/>
          </a:p>
        </p:txBody>
      </p:sp>
      <p:sp>
        <p:nvSpPr>
          <p:cNvPr id="12" name="Chip 3"/>
          <p:cNvSpPr/>
          <p:nvPr/>
        </p:nvSpPr>
        <p:spPr>
          <a:xfrm>
            <a:off x="548640" y="386791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hip 3 text"/>
          <p:cNvSpPr txBox="1"/>
          <p:nvPr/>
        </p:nvSpPr>
        <p:spPr>
          <a:xfrm>
            <a:off x="54864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Problem 3 head"/>
          <p:cNvSpPr txBox="1"/>
          <p:nvPr/>
        </p:nvSpPr>
        <p:spPr>
          <a:xfrm>
            <a:off x="1188720" y="383133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Camera walls do not answer</a:t>
            </a:r>
            <a:endParaRPr lang="en-US" sz="1800" dirty="0"/>
          </a:p>
        </p:txBody>
      </p:sp>
      <p:sp>
        <p:nvSpPr>
          <p:cNvPr id="15" name="Problem 3 body"/>
          <p:cNvSpPr txBox="1"/>
          <p:nvPr/>
        </p:nvSpPr>
        <p:spPr>
          <a:xfrm>
            <a:off x="1188720" y="421538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They show video. They cannot be asked anything.</a:t>
            </a:r>
            <a:endParaRPr lang="en-US" sz="1400" dirty="0"/>
          </a:p>
        </p:txBody>
      </p:sp>
      <p:sp>
        <p:nvSpPr>
          <p:cNvPr id="16" name="Chip 4"/>
          <p:cNvSpPr/>
          <p:nvPr/>
        </p:nvSpPr>
        <p:spPr>
          <a:xfrm>
            <a:off x="548640" y="48920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Chip 4 text"/>
          <p:cNvSpPr txBox="1"/>
          <p:nvPr/>
        </p:nvSpPr>
        <p:spPr>
          <a:xfrm>
            <a:off x="548640" y="4892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roblem 4 head"/>
          <p:cNvSpPr txBox="1"/>
          <p:nvPr/>
        </p:nvSpPr>
        <p:spPr>
          <a:xfrm>
            <a:off x="1188720" y="485546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Cloud video is a poor fit</a:t>
            </a:r>
            <a:endParaRPr lang="en-US" sz="1800" dirty="0"/>
          </a:p>
        </p:txBody>
      </p:sp>
      <p:sp>
        <p:nvSpPr>
          <p:cNvPr id="19" name="Problem 4 body"/>
          <p:cNvSpPr txBox="1"/>
          <p:nvPr/>
        </p:nvSpPr>
        <p:spPr>
          <a:xfrm>
            <a:off x="1188720" y="523951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Sending factory video off site is slow, costly and often not allowed.</a:t>
            </a:r>
            <a:endParaRPr lang="en-US" sz="1400" dirty="0"/>
          </a:p>
        </p:txBody>
      </p:sp>
      <p:sp>
        <p:nvSpPr>
          <p:cNvPr id="20" name="Need card"/>
          <p:cNvSpPr/>
          <p:nvPr/>
        </p:nvSpPr>
        <p:spPr>
          <a:xfrm>
            <a:off x="7498080" y="1874520"/>
            <a:ext cx="4142232" cy="3749040"/>
          </a:xfrm>
          <a:prstGeom prst="roundRect">
            <a:avLst>
              <a:gd name="adj" fmla="val 292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Need label"/>
          <p:cNvSpPr txBox="1"/>
          <p:nvPr/>
        </p:nvSpPr>
        <p:spPr>
          <a:xfrm>
            <a:off x="781812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2"/>
                </a:solidFill>
              </a:rPr>
              <a:t>THE NEED</a:t>
            </a:r>
            <a:endParaRPr lang="en-US" sz="1200" dirty="0"/>
          </a:p>
        </p:txBody>
      </p:sp>
      <p:sp>
        <p:nvSpPr>
          <p:cNvPr id="22" name="Need text"/>
          <p:cNvSpPr txBox="1"/>
          <p:nvPr/>
        </p:nvSpPr>
        <p:spPr>
          <a:xfrm>
            <a:off x="7818120" y="260604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One view of the whole site, and a way to ask it things.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A live 3D twin of your company that you can talk to.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2062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Ask by voice. The twin flies to the right floor, shows what the cameras see, and answers out loud.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chemeClr val="tx1"/>
                </a:solidFill>
              </a:rPr>
              <a:t>SECTION 2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889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What it does</a:t>
            </a:r>
            <a:endParaRPr lang="en-US" sz="6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Both plants and all six floors are live in one view</a:t>
            </a:r>
            <a:endParaRPr lang="en-US" sz="3000" dirty="0"/>
          </a:p>
        </p:txBody>
      </p:sp>
      <p:sp>
        <p:nvSpPr>
          <p:cNvPr id="4" name="Both plants and all six floors are live in one view frame"/>
          <p:cNvSpPr/>
          <p:nvPr/>
        </p:nvSpPr>
        <p:spPr>
          <a:xfrm>
            <a:off x="521208" y="1709928"/>
            <a:ext cx="6638544" cy="3758184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" name="Both plants and all six floors are live in one view" descr="Both plants and all six floors are live in one 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583680" cy="3703320"/>
          </a:xfrm>
          <a:prstGeom prst="rect">
            <a:avLst/>
          </a:prstGeom>
        </p:spPr>
      </p:pic>
      <p:sp>
        <p:nvSpPr>
          <p:cNvPr id="6" name="Lead"/>
          <p:cNvSpPr txBox="1"/>
          <p:nvPr/>
        </p:nvSpPr>
        <p:spPr>
          <a:xfrm>
            <a:off x="7589520" y="1691640"/>
            <a:ext cx="4050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Every person and vehicle the cameras see is a marker on the right floor.</a:t>
            </a:r>
            <a:endParaRPr lang="en-US" sz="2200" dirty="0"/>
          </a:p>
        </p:txBody>
      </p:sp>
      <p:sp>
        <p:nvSpPr>
          <p:cNvPr id="7" name="Points"/>
          <p:cNvSpPr txBox="1"/>
          <p:nvPr/>
        </p:nvSpPr>
        <p:spPr>
          <a:xfrm>
            <a:off x="7589520" y="2971800"/>
            <a:ext cx="40507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2 plants, 3 floors each, 6 cameras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Positions update 5 times a second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Pulsing red markers for safety events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The whole site is generated from one configuration file</a:t>
            </a:r>
            <a:endParaRPr lang="en-US" sz="3000" dirty="0"/>
          </a:p>
        </p:txBody>
      </p:sp>
      <p:sp>
        <p:nvSpPr>
          <p:cNvPr id="4" name="The whole site is generated from one configuration file frame"/>
          <p:cNvSpPr/>
          <p:nvPr/>
        </p:nvSpPr>
        <p:spPr>
          <a:xfrm>
            <a:off x="5029200" y="1709928"/>
            <a:ext cx="6638544" cy="3758184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" name="The whole site is generated from one configuration file" descr="The whole site is generated from one configuration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6632" y="1737360"/>
            <a:ext cx="6583680" cy="3703320"/>
          </a:xfrm>
          <a:prstGeom prst="rect">
            <a:avLst/>
          </a:prstGeom>
        </p:spPr>
      </p:pic>
      <p:sp>
        <p:nvSpPr>
          <p:cNvPr id="6" name="Lead"/>
          <p:cNvSpPr txBox="1"/>
          <p:nvPr/>
        </p:nvSpPr>
        <p:spPr>
          <a:xfrm>
            <a:off x="548640" y="1691640"/>
            <a:ext cx="4050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Select a plant and its floors spread apart to show what is inside.</a:t>
            </a:r>
            <a:endParaRPr lang="en-US" sz="2200" dirty="0"/>
          </a:p>
        </p:txBody>
      </p:sp>
      <p:sp>
        <p:nvSpPr>
          <p:cNvPr id="7" name="Points"/>
          <p:cNvSpPr txBox="1"/>
          <p:nvPr/>
        </p:nvSpPr>
        <p:spPr>
          <a:xfrm>
            <a:off x="548640" y="2971800"/>
            <a:ext cx="40507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Plants, floors, cameras and zones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Conveyors, racks, machines, pallets, offices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Change the file and the twin, the rules and the assistant all follow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You ask in plain language, by voice or by text</a:t>
            </a:r>
            <a:endParaRPr lang="en-US" sz="3000" dirty="0"/>
          </a:p>
        </p:txBody>
      </p:sp>
      <p:sp>
        <p:nvSpPr>
          <p:cNvPr id="4" name="You ask in plain language, by voice or by text frame"/>
          <p:cNvSpPr/>
          <p:nvPr/>
        </p:nvSpPr>
        <p:spPr>
          <a:xfrm>
            <a:off x="521208" y="1709928"/>
            <a:ext cx="6638544" cy="3390595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" name="You ask in plain language, by voice or by text" descr="You ask in plain language, by voice or by 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583680" cy="3335731"/>
          </a:xfrm>
          <a:prstGeom prst="rect">
            <a:avLst/>
          </a:prstGeom>
        </p:spPr>
      </p:pic>
      <p:sp>
        <p:nvSpPr>
          <p:cNvPr id="6" name="Lead"/>
          <p:cNvSpPr txBox="1"/>
          <p:nvPr/>
        </p:nvSpPr>
        <p:spPr>
          <a:xfrm>
            <a:off x="7589520" y="1691640"/>
            <a:ext cx="4050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The answer is spoken, shown as text, and drives the twin.</a:t>
            </a:r>
            <a:endParaRPr lang="en-US" sz="2200" dirty="0"/>
          </a:p>
        </p:txBody>
      </p:sp>
      <p:sp>
        <p:nvSpPr>
          <p:cNvPr id="7" name="Points"/>
          <p:cNvSpPr txBox="1"/>
          <p:nvPr/>
        </p:nvSpPr>
        <p:spPr>
          <a:xfrm>
            <a:off x="7589520" y="2971800"/>
            <a:ext cx="40507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“Give me a status of both plants”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“Show me Plant 2, floor 3” moves the camera there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Out-of-scope questions get an honest “I can’t see that”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Four rules turn tracks into safety events on the right floor</a:t>
            </a:r>
            <a:endParaRPr lang="en-US" sz="3000" dirty="0"/>
          </a:p>
        </p:txBody>
      </p:sp>
      <p:graphicFrame>
        <p:nvGraphicFramePr>
          <p:cNvPr id="10" name="Rul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Event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Raised when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Near miss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a person is within 2 m of a closing forklift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Restricted zone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a person stays inside for over 2 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No helmet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the vision check on a person says no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Crowding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more than 4 people are within 3 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5" name="Rules note"/>
          <p:cNvSpPr txBox="1"/>
          <p:nvPr/>
        </p:nvSpPr>
        <p:spPr>
          <a:xfrm>
            <a:off x="548640" y="45262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Events are stored and can be asked about by plant, floor, type and time.</a:t>
            </a:r>
            <a:endParaRPr lang="en-US" sz="1600" dirty="0"/>
          </a:p>
        </p:txBody>
      </p:sp>
      <p:sp>
        <p:nvSpPr>
          <p:cNvPr id="6" name="Safety events highlighted on the twin frame"/>
          <p:cNvSpPr/>
          <p:nvPr/>
        </p:nvSpPr>
        <p:spPr>
          <a:xfrm>
            <a:off x="6144768" y="1709928"/>
            <a:ext cx="5522976" cy="3130677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7" name="Safety events highlighted on the twin" descr="Safety events highlighted on the tw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737360"/>
            <a:ext cx="5468112" cy="307581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Every floor has a live camera view with detections boxed</a:t>
            </a:r>
            <a:endParaRPr lang="en-US" sz="3000" dirty="0"/>
          </a:p>
        </p:txBody>
      </p:sp>
      <p:sp>
        <p:nvSpPr>
          <p:cNvPr id="4" name="Every floor has a live camera view with detections boxed frame"/>
          <p:cNvSpPr/>
          <p:nvPr/>
        </p:nvSpPr>
        <p:spPr>
          <a:xfrm>
            <a:off x="521208" y="1709928"/>
            <a:ext cx="5998464" cy="4092026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" name="Every floor has a live camera view with detections boxed" descr="Every floor has a live camera view with detections box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943600" cy="4037162"/>
          </a:xfrm>
          <a:prstGeom prst="rect">
            <a:avLst/>
          </a:prstGeom>
        </p:spPr>
      </p:pic>
      <p:sp>
        <p:nvSpPr>
          <p:cNvPr id="6" name="Lead"/>
          <p:cNvSpPr txBox="1"/>
          <p:nvPr/>
        </p:nvSpPr>
        <p:spPr>
          <a:xfrm>
            <a:off x="6949440" y="1691640"/>
            <a:ext cx="4690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Focus a floor and its camera appears beside the twin.</a:t>
            </a:r>
            <a:endParaRPr lang="en-US" sz="2200" dirty="0"/>
          </a:p>
        </p:txBody>
      </p:sp>
      <p:sp>
        <p:nvSpPr>
          <p:cNvPr id="7" name="Points"/>
          <p:cNvSpPr txBox="1"/>
          <p:nvPr/>
        </p:nvSpPr>
        <p:spPr>
          <a:xfrm>
            <a:off x="6949440" y="2971800"/>
            <a:ext cx="46908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The same detection that places the marker draws the box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One stream is shown at a time, so it stays light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Nothing is published beyond the one app port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Any camera can be fed from a recording or a webcam</a:t>
            </a:r>
            <a:endParaRPr lang="en-US" sz="3000" dirty="0"/>
          </a:p>
        </p:txBody>
      </p:sp>
      <p:sp>
        <p:nvSpPr>
          <p:cNvPr id="4" name="Any camera can be fed from a recording or a webcam frame"/>
          <p:cNvSpPr/>
          <p:nvPr/>
        </p:nvSpPr>
        <p:spPr>
          <a:xfrm>
            <a:off x="5212080" y="1709928"/>
            <a:ext cx="6455664" cy="3895344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" name="Any camera can be fed from a recording or a webcam" descr="Any camera can be fed from a recording or a webc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9512" y="1737360"/>
            <a:ext cx="6400800" cy="3840480"/>
          </a:xfrm>
          <a:prstGeom prst="rect">
            <a:avLst/>
          </a:prstGeom>
        </p:spPr>
      </p:pic>
      <p:sp>
        <p:nvSpPr>
          <p:cNvPr id="6" name="Lead"/>
          <p:cNvSpPr txBox="1"/>
          <p:nvPr/>
        </p:nvSpPr>
        <p:spPr>
          <a:xfrm>
            <a:off x="548640" y="1691640"/>
            <a:ext cx="4233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For a live demo, drop your own footage into a floor.</a:t>
            </a:r>
            <a:endParaRPr lang="en-US" sz="2200" dirty="0"/>
          </a:p>
        </p:txBody>
      </p:sp>
      <p:sp>
        <p:nvSpPr>
          <p:cNvPr id="7" name="Points"/>
          <p:cNvSpPr txBox="1"/>
          <p:nvPr/>
        </p:nvSpPr>
        <p:spPr>
          <a:xfrm>
            <a:off x="548640" y="2971800"/>
            <a:ext cx="42336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Recorded mp4 files, looped as live streams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A webcam shared from the browser, or attached to the machine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“Share recording”: pick a video file and it is analysed on the spot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The alert names the person, and one question gives the full picture</a:t>
            </a:r>
            <a:endParaRPr lang="en-US" sz="3000" dirty="0"/>
          </a:p>
        </p:txBody>
      </p:sp>
      <p:sp>
        <p:nvSpPr>
          <p:cNvPr id="4" name="The alert names the person, and one question gives the full picture frame"/>
          <p:cNvSpPr/>
          <p:nvPr/>
        </p:nvSpPr>
        <p:spPr>
          <a:xfrm>
            <a:off x="521208" y="1709928"/>
            <a:ext cx="4535424" cy="4155716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" name="The alert names the person, and one question gives the full picture" descr="The alert names the person, and one question gives the full pi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4480560" cy="4100852"/>
          </a:xfrm>
          <a:prstGeom prst="rect">
            <a:avLst/>
          </a:prstGeom>
        </p:spPr>
      </p:pic>
      <p:sp>
        <p:nvSpPr>
          <p:cNvPr id="6" name="Lead"/>
          <p:cNvSpPr txBox="1"/>
          <p:nvPr/>
        </p:nvSpPr>
        <p:spPr>
          <a:xfrm>
            <a:off x="5486400" y="1691640"/>
            <a:ext cx="6153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“Who is this person?”</a:t>
            </a:r>
            <a:endParaRPr lang="en-US" sz="2200" dirty="0"/>
          </a:p>
        </p:txBody>
      </p:sp>
      <p:sp>
        <p:nvSpPr>
          <p:cNvPr id="7" name="Points"/>
          <p:cNvSpPr txBox="1"/>
          <p:nvPr/>
        </p:nvSpPr>
        <p:spPr>
          <a:xfrm>
            <a:off x="5486400" y="2971800"/>
            <a:ext cx="61539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Name, role, shift, supervisor and training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When they entered, when the alert fired, how long they stayed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Whether they were authorised for that zone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Where they are now, and their other incidents today</a:t>
            </a:r>
            <a:endParaRPr lang="en-US" sz="1800" dirty="0"/>
          </a:p>
        </p:txBody>
      </p:sp>
      <p:sp>
        <p:nvSpPr>
          <p:cNvPr id="8" name="Note"/>
          <p:cNvSpPr txBox="1"/>
          <p:nvPr/>
        </p:nvSpPr>
        <p:spPr>
          <a:xfrm>
            <a:off x="5486400" y="5532120"/>
            <a:ext cx="6153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Employees are fictional. Identity comes from a simulated badge feed, not from face recognition.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One more sentence writes the incident report</a:t>
            </a:r>
            <a:endParaRPr lang="en-US" sz="3000" dirty="0"/>
          </a:p>
        </p:txBody>
      </p:sp>
      <p:sp>
        <p:nvSpPr>
          <p:cNvPr id="4" name="One more sentence writes the incident report frame"/>
          <p:cNvSpPr/>
          <p:nvPr/>
        </p:nvSpPr>
        <p:spPr>
          <a:xfrm>
            <a:off x="7132320" y="1709928"/>
            <a:ext cx="4535424" cy="4155716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" name="One more sentence writes the incident report" descr="One more sentence writes the incident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9752" y="1737360"/>
            <a:ext cx="4480560" cy="4100852"/>
          </a:xfrm>
          <a:prstGeom prst="rect">
            <a:avLst/>
          </a:prstGeom>
        </p:spPr>
      </p:pic>
      <p:sp>
        <p:nvSpPr>
          <p:cNvPr id="6" name="Lead"/>
          <p:cNvSpPr txBox="1"/>
          <p:nvPr/>
        </p:nvSpPr>
        <p:spPr>
          <a:xfrm>
            <a:off x="548640" y="1691640"/>
            <a:ext cx="6153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“Write the incident report.”</a:t>
            </a:r>
            <a:endParaRPr lang="en-US" sz="2200" dirty="0"/>
          </a:p>
        </p:txBody>
      </p:sp>
      <p:sp>
        <p:nvSpPr>
          <p:cNvPr id="7" name="Points"/>
          <p:cNvSpPr txBox="1"/>
          <p:nvPr/>
        </p:nvSpPr>
        <p:spPr>
          <a:xfrm>
            <a:off x="548640" y="2971800"/>
            <a:ext cx="61539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What, where, when, who, severity and recommended action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Filled from the stored event, so it cannot contain invented facts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The camera snapshot from the moment of the alert is attached</a:t>
            </a:r>
            <a:endParaRPr lang="en-US" sz="1800" dirty="0"/>
          </a:p>
        </p:txBody>
      </p:sp>
      <p:sp>
        <p:nvSpPr>
          <p:cNvPr id="8" name="Note"/>
          <p:cNvSpPr txBox="1"/>
          <p:nvPr/>
        </p:nvSpPr>
        <p:spPr>
          <a:xfrm>
            <a:off x="548640" y="5532120"/>
            <a:ext cx="6153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From alert to written report without leaving the twin.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chemeClr val="tx1"/>
                </a:solidFill>
              </a:rPr>
              <a:t>SECTION 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889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How it works</a:t>
            </a:r>
            <a:endParaRPr lang="en-US" sz="6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One process on one device takes video to a spoken answer</a:t>
            </a:r>
            <a:endParaRPr lang="en-US" sz="3000" dirty="0"/>
          </a:p>
        </p:txBody>
      </p:sp>
      <p:sp>
        <p:nvSpPr>
          <p:cNvPr id="4" name="Lane 1 label"/>
          <p:cNvSpPr txBox="1"/>
          <p:nvPr/>
        </p:nvSpPr>
        <p:spPr>
          <a:xfrm>
            <a:off x="6858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4"/>
                </a:solidFill>
              </a:rPr>
              <a:t>PERCEPTION, 6 STREAMS</a:t>
            </a:r>
            <a:endParaRPr lang="en-US" sz="1100" dirty="0"/>
          </a:p>
        </p:txBody>
      </p:sp>
      <p:sp>
        <p:nvSpPr>
          <p:cNvPr id="5" name="Node Cameras"/>
          <p:cNvSpPr/>
          <p:nvPr/>
        </p:nvSpPr>
        <p:spPr>
          <a:xfrm>
            <a:off x="685800" y="2194560"/>
            <a:ext cx="1481328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Node Cameras text"/>
          <p:cNvSpPr txBox="1"/>
          <p:nvPr/>
        </p:nvSpPr>
        <p:spPr>
          <a:xfrm>
            <a:off x="685800" y="219456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Cameras</a:t>
            </a:r>
            <a:endParaRPr lang="en-US" sz="1300" dirty="0"/>
          </a:p>
        </p:txBody>
      </p:sp>
      <p:sp>
        <p:nvSpPr>
          <p:cNvPr id="7" name="Node Ingest"/>
          <p:cNvSpPr/>
          <p:nvPr/>
        </p:nvSpPr>
        <p:spPr>
          <a:xfrm>
            <a:off x="2532888" y="2194560"/>
            <a:ext cx="14813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ode Ingest text"/>
          <p:cNvSpPr txBox="1"/>
          <p:nvPr/>
        </p:nvSpPr>
        <p:spPr>
          <a:xfrm>
            <a:off x="2532888" y="219456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Ingest</a:t>
            </a:r>
            <a:endParaRPr lang="en-US" sz="1300" dirty="0"/>
          </a:p>
        </p:txBody>
      </p:sp>
      <p:sp>
        <p:nvSpPr>
          <p:cNvPr id="9" name="Node Detector"/>
          <p:cNvSpPr/>
          <p:nvPr/>
        </p:nvSpPr>
        <p:spPr>
          <a:xfrm>
            <a:off x="4379976" y="2194560"/>
            <a:ext cx="14813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ode Detector text"/>
          <p:cNvSpPr txBox="1"/>
          <p:nvPr/>
        </p:nvSpPr>
        <p:spPr>
          <a:xfrm>
            <a:off x="4379976" y="219456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Detector</a:t>
            </a:r>
            <a:endParaRPr lang="en-US" sz="1300" dirty="0"/>
          </a:p>
        </p:txBody>
      </p:sp>
      <p:sp>
        <p:nvSpPr>
          <p:cNvPr id="11" name="Node Track + map"/>
          <p:cNvSpPr/>
          <p:nvPr/>
        </p:nvSpPr>
        <p:spPr>
          <a:xfrm>
            <a:off x="6227064" y="2194560"/>
            <a:ext cx="14813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ode Track + map text"/>
          <p:cNvSpPr txBox="1"/>
          <p:nvPr/>
        </p:nvSpPr>
        <p:spPr>
          <a:xfrm>
            <a:off x="6227064" y="219456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Track + map</a:t>
            </a:r>
            <a:endParaRPr lang="en-US" sz="1300" dirty="0"/>
          </a:p>
        </p:txBody>
      </p:sp>
      <p:sp>
        <p:nvSpPr>
          <p:cNvPr id="13" name="Node Rules"/>
          <p:cNvSpPr/>
          <p:nvPr/>
        </p:nvSpPr>
        <p:spPr>
          <a:xfrm>
            <a:off x="8074152" y="2194560"/>
            <a:ext cx="14813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ode Rules text"/>
          <p:cNvSpPr txBox="1"/>
          <p:nvPr/>
        </p:nvSpPr>
        <p:spPr>
          <a:xfrm>
            <a:off x="8074152" y="219456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Rules</a:t>
            </a:r>
            <a:endParaRPr lang="en-US" sz="1300" dirty="0"/>
          </a:p>
        </p:txBody>
      </p:sp>
      <p:sp>
        <p:nvSpPr>
          <p:cNvPr id="15" name="Node Event store"/>
          <p:cNvSpPr/>
          <p:nvPr/>
        </p:nvSpPr>
        <p:spPr>
          <a:xfrm>
            <a:off x="9921240" y="2194560"/>
            <a:ext cx="1481328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Node Event store text"/>
          <p:cNvSpPr txBox="1"/>
          <p:nvPr/>
        </p:nvSpPr>
        <p:spPr>
          <a:xfrm>
            <a:off x="9921240" y="219456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Event store</a:t>
            </a:r>
            <a:endParaRPr lang="en-US" sz="1300" dirty="0"/>
          </a:p>
        </p:txBody>
      </p:sp>
      <p:sp>
        <p:nvSpPr>
          <p:cNvPr id="17" name="Arrow 0 2.4"/>
          <p:cNvSpPr/>
          <p:nvPr/>
        </p:nvSpPr>
        <p:spPr>
          <a:xfrm>
            <a:off x="2167128" y="2478024"/>
            <a:ext cx="3657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Arrow 1 2.4"/>
          <p:cNvSpPr/>
          <p:nvPr/>
        </p:nvSpPr>
        <p:spPr>
          <a:xfrm>
            <a:off x="4014216" y="2478024"/>
            <a:ext cx="3657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Arrow 2 2.4"/>
          <p:cNvSpPr/>
          <p:nvPr/>
        </p:nvSpPr>
        <p:spPr>
          <a:xfrm>
            <a:off x="5861304" y="2478024"/>
            <a:ext cx="3657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Arrow 3 2.4"/>
          <p:cNvSpPr/>
          <p:nvPr/>
        </p:nvSpPr>
        <p:spPr>
          <a:xfrm>
            <a:off x="7708392" y="2478024"/>
            <a:ext cx="3657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Arrow 4 2.4"/>
          <p:cNvSpPr/>
          <p:nvPr/>
        </p:nvSpPr>
        <p:spPr>
          <a:xfrm>
            <a:off x="9555480" y="2478024"/>
            <a:ext cx="3657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Lane 2 label"/>
          <p:cNvSpPr txBox="1"/>
          <p:nvPr/>
        </p:nvSpPr>
        <p:spPr>
          <a:xfrm>
            <a:off x="685800" y="3337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4"/>
                </a:solidFill>
              </a:rPr>
              <a:t>VOICE</a:t>
            </a:r>
            <a:endParaRPr lang="en-US" sz="1100" dirty="0"/>
          </a:p>
        </p:txBody>
      </p:sp>
      <p:sp>
        <p:nvSpPr>
          <p:cNvPr id="23" name="Node Microphone"/>
          <p:cNvSpPr/>
          <p:nvPr/>
        </p:nvSpPr>
        <p:spPr>
          <a:xfrm>
            <a:off x="685800" y="3749040"/>
            <a:ext cx="1481328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4" name="Node Microphone text"/>
          <p:cNvSpPr txBox="1"/>
          <p:nvPr/>
        </p:nvSpPr>
        <p:spPr>
          <a:xfrm>
            <a:off x="685800" y="3749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Microphone</a:t>
            </a:r>
            <a:endParaRPr lang="en-US" sz="1300" dirty="0"/>
          </a:p>
        </p:txBody>
      </p:sp>
      <p:sp>
        <p:nvSpPr>
          <p:cNvPr id="25" name="Node Speech in"/>
          <p:cNvSpPr/>
          <p:nvPr/>
        </p:nvSpPr>
        <p:spPr>
          <a:xfrm>
            <a:off x="2532888" y="3749040"/>
            <a:ext cx="14813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Node Speech in text"/>
          <p:cNvSpPr txBox="1"/>
          <p:nvPr/>
        </p:nvSpPr>
        <p:spPr>
          <a:xfrm>
            <a:off x="2532888" y="3749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Speech in</a:t>
            </a:r>
            <a:endParaRPr lang="en-US" sz="1300" dirty="0"/>
          </a:p>
        </p:txBody>
      </p:sp>
      <p:sp>
        <p:nvSpPr>
          <p:cNvPr id="27" name="Node Agent + tools"/>
          <p:cNvSpPr/>
          <p:nvPr/>
        </p:nvSpPr>
        <p:spPr>
          <a:xfrm>
            <a:off x="4379976" y="3749040"/>
            <a:ext cx="1481328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Node Agent + tools text"/>
          <p:cNvSpPr txBox="1"/>
          <p:nvPr/>
        </p:nvSpPr>
        <p:spPr>
          <a:xfrm>
            <a:off x="4379976" y="3749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Agent + tools</a:t>
            </a:r>
            <a:endParaRPr lang="en-US" sz="1300" dirty="0"/>
          </a:p>
        </p:txBody>
      </p:sp>
      <p:sp>
        <p:nvSpPr>
          <p:cNvPr id="29" name="Node Speech out"/>
          <p:cNvSpPr/>
          <p:nvPr/>
        </p:nvSpPr>
        <p:spPr>
          <a:xfrm>
            <a:off x="6227064" y="3749040"/>
            <a:ext cx="148132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Node Speech out text"/>
          <p:cNvSpPr txBox="1"/>
          <p:nvPr/>
        </p:nvSpPr>
        <p:spPr>
          <a:xfrm>
            <a:off x="6227064" y="3749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Speech out</a:t>
            </a:r>
            <a:endParaRPr lang="en-US" sz="1300" dirty="0"/>
          </a:p>
        </p:txBody>
      </p:sp>
      <p:sp>
        <p:nvSpPr>
          <p:cNvPr id="31" name="Node Browser twin"/>
          <p:cNvSpPr/>
          <p:nvPr/>
        </p:nvSpPr>
        <p:spPr>
          <a:xfrm>
            <a:off x="9921240" y="3749040"/>
            <a:ext cx="1481328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2" name="Node Browser twin text"/>
          <p:cNvSpPr txBox="1"/>
          <p:nvPr/>
        </p:nvSpPr>
        <p:spPr>
          <a:xfrm>
            <a:off x="9921240" y="374904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Browser twin</a:t>
            </a:r>
            <a:endParaRPr lang="en-US" sz="1300" dirty="0"/>
          </a:p>
        </p:txBody>
      </p:sp>
      <p:sp>
        <p:nvSpPr>
          <p:cNvPr id="33" name="Arrow 0 4.1"/>
          <p:cNvSpPr/>
          <p:nvPr/>
        </p:nvSpPr>
        <p:spPr>
          <a:xfrm>
            <a:off x="2167128" y="4032504"/>
            <a:ext cx="3657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4" name="Arrow 1 4.1"/>
          <p:cNvSpPr/>
          <p:nvPr/>
        </p:nvSpPr>
        <p:spPr>
          <a:xfrm>
            <a:off x="4014216" y="4032504"/>
            <a:ext cx="3657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5" name="Arrow 2 4.1"/>
          <p:cNvSpPr/>
          <p:nvPr/>
        </p:nvSpPr>
        <p:spPr>
          <a:xfrm>
            <a:off x="5861304" y="4032504"/>
            <a:ext cx="3657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6" name="Arrow 3 4.1"/>
          <p:cNvSpPr/>
          <p:nvPr/>
        </p:nvSpPr>
        <p:spPr>
          <a:xfrm>
            <a:off x="7708392" y="4032504"/>
            <a:ext cx="2212848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7" name="Label answer"/>
          <p:cNvSpPr txBox="1"/>
          <p:nvPr/>
        </p:nvSpPr>
        <p:spPr>
          <a:xfrm>
            <a:off x="7708392" y="406908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answer and speech</a:t>
            </a:r>
            <a:endParaRPr lang="en-US" sz="1100" dirty="0"/>
          </a:p>
        </p:txBody>
      </p:sp>
      <p:sp>
        <p:nvSpPr>
          <p:cNvPr id="38" name="Arrow store to browser"/>
          <p:cNvSpPr/>
          <p:nvPr/>
        </p:nvSpPr>
        <p:spPr>
          <a:xfrm>
            <a:off x="10661904" y="2761488"/>
            <a:ext cx="0" cy="987552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9" name="Label state"/>
          <p:cNvSpPr txBox="1"/>
          <p:nvPr/>
        </p:nvSpPr>
        <p:spPr>
          <a:xfrm>
            <a:off x="10753344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state, events</a:t>
            </a:r>
            <a:endParaRPr lang="en-US" sz="1100" dirty="0"/>
          </a:p>
        </p:txBody>
      </p:sp>
      <p:sp>
        <p:nvSpPr>
          <p:cNvPr id="40" name="Arrow store to agent"/>
          <p:cNvSpPr/>
          <p:nvPr/>
        </p:nvSpPr>
        <p:spPr>
          <a:xfrm flipH="1">
            <a:off x="5861304" y="2761488"/>
            <a:ext cx="4059936" cy="987552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41" name="Label tools"/>
          <p:cNvSpPr txBox="1"/>
          <p:nvPr/>
        </p:nvSpPr>
        <p:spPr>
          <a:xfrm>
            <a:off x="4749394" y="28712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tools read events and live state</a:t>
            </a:r>
            <a:endParaRPr lang="en-US" sz="1100" dirty="0"/>
          </a:p>
        </p:txBody>
      </p:sp>
      <p:sp>
        <p:nvSpPr>
          <p:cNvPr id="42" name="Points"/>
          <p:cNvSpPr txBox="1"/>
          <p:nvPr/>
        </p:nvSpPr>
        <p:spPr>
          <a:xfrm>
            <a:off x="548640" y="484632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One vision-language model serves the conversation and the “look at this frame” tool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Seven tools: events, live state, look, focus, show event, identify person, write report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The planned model stack leaves headroom inside 15 GB</a:t>
            </a:r>
            <a:endParaRPr lang="en-US" sz="3000" dirty="0"/>
          </a:p>
        </p:txBody>
      </p:sp>
      <p:graphicFrame>
        <p:nvGraphicFramePr>
          <p:cNvPr id="4" name="Memory budget chart" descr="Bar chart of the planned memory budget per component in GB"/>
          <p:cNvGraphicFramePr/>
          <p:nvPr/>
        </p:nvGraphicFramePr>
        <p:xfrm>
          <a:off x="548640" y="164592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Lead"/>
          <p:cNvSpPr txBox="1"/>
          <p:nvPr/>
        </p:nvSpPr>
        <p:spPr>
          <a:xfrm>
            <a:off x="777240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12.8 of 15 GB budgeted.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7772400" y="237744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3B-class vision-language model, half precision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Whisper for speech in, Piper for speech out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YOLO exported to TensorRT, one batch for all streams</a:t>
            </a:r>
            <a:endParaRPr lang="en-US" sz="1800" dirty="0"/>
          </a:p>
        </p:txBody>
      </p:sp>
      <p:sp>
        <p:nvSpPr>
          <p:cNvPr id="7" name="Budget note"/>
          <p:cNvSpPr txBox="1"/>
          <p:nvPr/>
        </p:nvSpPr>
        <p:spPr>
          <a:xfrm>
            <a:off x="7772400" y="4892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This is the plan. The figures still have to be measured on the Jetson.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Every heavy component has a mock, so the demo cannot die</a:t>
            </a:r>
            <a:endParaRPr lang="en-US" sz="3000" dirty="0"/>
          </a:p>
        </p:txBody>
      </p:sp>
      <p:graphicFrame>
        <p:nvGraphicFramePr>
          <p:cNvPr id="18" name="Mock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52395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Component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Real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Mock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Perception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video, detector, tracker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simulated people, scripted scenarios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Assistant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vision-language model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keyword router calling the same tools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Speech in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Whisper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fixed question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Speech out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Piper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chime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5" name="Points"/>
          <p:cNvSpPr txBox="1"/>
          <p:nvPr/>
        </p:nvSpPr>
        <p:spPr>
          <a:xfrm>
            <a:off x="548640" y="443484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A backend that fails to load falls back to its mock at startup, and the app says which is running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The whole app runs on a laptop without a GPU, which is how it was built and tested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chemeClr val="tx1"/>
                </a:solidFill>
              </a:rPr>
              <a:t>SECTION 4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889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Architecture in detail</a:t>
            </a:r>
            <a:endParaRPr lang="en-US" sz="6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One process runs three loops at once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548640" y="1737360"/>
            <a:ext cx="3514344" cy="2377440"/>
          </a:xfrm>
          <a:prstGeom prst="roundRect">
            <a:avLst>
              <a:gd name="adj" fmla="val 384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Card 1 head"/>
          <p:cNvSpPr txBox="1"/>
          <p:nvPr/>
        </p:nvSpPr>
        <p:spPr>
          <a:xfrm>
            <a:off x="822960" y="1938528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Perception threads</a:t>
            </a:r>
            <a:endParaRPr lang="en-US" sz="1900" dirty="0"/>
          </a:p>
        </p:txBody>
      </p:sp>
      <p:sp>
        <p:nvSpPr>
          <p:cNvPr id="6" name="Card 1 body"/>
          <p:cNvSpPr txBox="1"/>
          <p:nvPr/>
        </p:nvSpPr>
        <p:spPr>
          <a:xfrm>
            <a:off x="822960" y="2423160"/>
            <a:ext cx="2965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One thread per stream decodes video. The latest frame of every stream goes to the detector in one batch, then to the tracker and the mapper.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4337304" y="1737360"/>
            <a:ext cx="3514344" cy="2377440"/>
          </a:xfrm>
          <a:prstGeom prst="roundRect">
            <a:avLst>
              <a:gd name="adj" fmla="val 384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ard 2 head"/>
          <p:cNvSpPr txBox="1"/>
          <p:nvPr/>
        </p:nvSpPr>
        <p:spPr>
          <a:xfrm>
            <a:off x="4611624" y="1938528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Broadcast loop, 5 Hz</a:t>
            </a:r>
            <a:endParaRPr lang="en-US" sz="1900" dirty="0"/>
          </a:p>
        </p:txBody>
      </p:sp>
      <p:sp>
        <p:nvSpPr>
          <p:cNvPr id="9" name="Card 2 body"/>
          <p:cNvSpPr txBox="1"/>
          <p:nvPr/>
        </p:nvSpPr>
        <p:spPr>
          <a:xfrm>
            <a:off x="4611624" y="2423160"/>
            <a:ext cx="2965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Reads the latest tracks, runs the rules, attaches identity, stores events and sends state to the browser. Metrics go out once a second.</a:t>
            </a:r>
            <a:endParaRPr lang="en-US" sz="1400" dirty="0"/>
          </a:p>
        </p:txBody>
      </p:sp>
      <p:sp>
        <p:nvSpPr>
          <p:cNvPr id="10" name="Card 3"/>
          <p:cNvSpPr/>
          <p:nvPr/>
        </p:nvSpPr>
        <p:spPr>
          <a:xfrm>
            <a:off x="8125968" y="1737360"/>
            <a:ext cx="3514344" cy="2377440"/>
          </a:xfrm>
          <a:prstGeom prst="roundRect">
            <a:avLst>
              <a:gd name="adj" fmla="val 384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Card 3 head"/>
          <p:cNvSpPr txBox="1"/>
          <p:nvPr/>
        </p:nvSpPr>
        <p:spPr>
          <a:xfrm>
            <a:off x="8400288" y="1938528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Agent loop, per question</a:t>
            </a:r>
            <a:endParaRPr lang="en-US" sz="1900" dirty="0"/>
          </a:p>
        </p:txBody>
      </p:sp>
      <p:sp>
        <p:nvSpPr>
          <p:cNvPr id="12" name="Card 3 body"/>
          <p:cNvSpPr txBox="1"/>
          <p:nvPr/>
        </p:nvSpPr>
        <p:spPr>
          <a:xfrm>
            <a:off x="8400288" y="2423160"/>
            <a:ext cx="29657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Asynchronous. Speech to text, up to three rounds of tool calls, the final answer, then speech sentence by sentence.</a:t>
            </a:r>
            <a:endParaRPr lang="en-US" sz="1400" dirty="0"/>
          </a:p>
        </p:txBody>
      </p:sp>
      <p:sp>
        <p:nvSpPr>
          <p:cNvPr id="13" name="Lead"/>
          <p:cNvSpPr txBox="1"/>
          <p:nvPr/>
        </p:nvSpPr>
        <p:spPr>
          <a:xfrm>
            <a:off x="548640" y="44348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One FastAPI process on 0.0.0.0:8000. The browser is the only client, and that is the only port.</a:t>
            </a:r>
            <a:endParaRPr lang="en-US" sz="2200" dirty="0"/>
          </a:p>
        </p:txBody>
      </p:sp>
      <p:sp>
        <p:nvSpPr>
          <p:cNvPr id="14" name="Note"/>
          <p:cNvSpPr txBox="1"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Python 3, FastAPI, pydantic models for every message that crosses a boundary. Plain ES modules and Three.js in the browser.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Perception takes five stages from pixels to floor metres</a:t>
            </a:r>
            <a:endParaRPr lang="en-US" sz="3000" dirty="0"/>
          </a:p>
        </p:txBody>
      </p:sp>
      <p:graphicFrame>
        <p:nvGraphicFramePr>
          <p:cNvPr id="21" name="Percep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798271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Stage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Module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Ingest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ingest.py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GStreamer hardware decode, looping, real time, 1280x720; OpenCV fallback. Files, a webcam or frames shared from a browser.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Detect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detector.py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YOLO exported to TensorRT FP16. The latest frame of every stream goes through in one batch.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Track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tracker.py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ByteTrack-style two-stage association per stream, in pure Python. Gives each person a stable id.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Map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mapper.py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The foot point of each box goes through the camera homography to floor metres. Four clicked points calibrate a camera.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Mock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mock.py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Simulated people and vehicles. A scripted scenario every 30 s makes the real rules raise a real event.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5" name="Note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The camera view is the same data: one JPEG of the focused floor with every track boxed, about four times a second.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Rules are pure functions with fixed thresholds</a:t>
            </a:r>
            <a:endParaRPr lang="en-US" sz="3000" dirty="0"/>
          </a:p>
        </p:txBody>
      </p:sp>
      <p:graphicFrame>
        <p:nvGraphicFramePr>
          <p:cNvPr id="22" name="Rules detai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120640"/>
                <a:gridCol w="36850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Event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Raised when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Notes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near_miss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A person and a forklift are within 2 m and closing faster than 0.5 m/s.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Severity 3.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restricted_zone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A person is inside a restricted polygon for more than 2 s.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Once per stay. Authorised people raise nothing.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no_helmet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The vision model says no about a person crop.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One unchecked person every 3 s.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crowding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More than 4 people are within a 3 m radius.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Severity 1.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5" name="Points"/>
          <p:cNvSpPr txBox="1"/>
          <p:nvPr/>
        </p:nvSpPr>
        <p:spPr>
          <a:xfrm>
            <a:off x="548640" y="470916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Unit-tested: each rule has its own tests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Debounced: no repeat within 30 seconds for the same tracks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Backend-neutral: the same rules run on mock and real tracks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Tracks live in memory, and events live in SQLite</a:t>
            </a:r>
            <a:endParaRPr lang="en-US" sz="3000" dirty="0"/>
          </a:p>
        </p:txBody>
      </p:sp>
      <p:sp>
        <p:nvSpPr>
          <p:cNvPr id="4" name="Data card 1"/>
          <p:cNvSpPr/>
          <p:nvPr/>
        </p:nvSpPr>
        <p:spPr>
          <a:xfrm>
            <a:off x="548640" y="1737360"/>
            <a:ext cx="4206240" cy="2743200"/>
          </a:xfrm>
          <a:prstGeom prst="roundRect">
            <a:avLst>
              <a:gd name="adj" fmla="val 3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Data 1 label"/>
          <p:cNvSpPr txBox="1"/>
          <p:nvPr/>
        </p:nvSpPr>
        <p:spPr>
          <a:xfrm>
            <a:off x="82296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TRACK, IN MEMORY</a:t>
            </a:r>
            <a:endParaRPr lang="en-US" sz="1200" dirty="0"/>
          </a:p>
        </p:txBody>
      </p:sp>
      <p:sp>
        <p:nvSpPr>
          <p:cNvPr id="6" name="Data 1 fields"/>
          <p:cNvSpPr txBox="1"/>
          <p:nvPr/>
        </p:nvSpPr>
        <p:spPr>
          <a:xfrm>
            <a:off x="822960" y="2286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zone, cls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y, vx, vy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bbox, last_seen</a:t>
            </a:r>
            <a:endParaRPr lang="en-US" sz="1500" dirty="0"/>
          </a:p>
        </p:txBody>
      </p:sp>
      <p:sp>
        <p:nvSpPr>
          <p:cNvPr id="7" name="Data 1 body"/>
          <p:cNvSpPr txBox="1"/>
          <p:nvPr/>
        </p:nvSpPr>
        <p:spPr>
          <a:xfrm>
            <a:off x="822960" y="3429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Class is person, forklift or vehicle. Positions are floor metres. Sent to the browser five times a second.</a:t>
            </a:r>
            <a:endParaRPr lang="en-US" sz="1300" dirty="0"/>
          </a:p>
        </p:txBody>
      </p:sp>
      <p:sp>
        <p:nvSpPr>
          <p:cNvPr id="8" name="Data card 2"/>
          <p:cNvSpPr/>
          <p:nvPr/>
        </p:nvSpPr>
        <p:spPr>
          <a:xfrm>
            <a:off x="5029200" y="1737360"/>
            <a:ext cx="6611112" cy="2743200"/>
          </a:xfrm>
          <a:prstGeom prst="roundRect">
            <a:avLst>
              <a:gd name="adj" fmla="val 333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Data 2 label"/>
          <p:cNvSpPr txBox="1"/>
          <p:nvPr/>
        </p:nvSpPr>
        <p:spPr>
          <a:xfrm>
            <a:off x="5303520" y="1920240"/>
            <a:ext cx="6062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EVENT, ONE ROW IN SQLITE</a:t>
            </a:r>
            <a:endParaRPr lang="en-US" sz="1200" dirty="0"/>
          </a:p>
        </p:txBody>
      </p:sp>
      <p:sp>
        <p:nvSpPr>
          <p:cNvPr id="10" name="Data 2 fields"/>
          <p:cNvSpPr txBox="1"/>
          <p:nvPr/>
        </p:nvSpPr>
        <p:spPr>
          <a:xfrm>
            <a:off x="5303520" y="2286000"/>
            <a:ext cx="6062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ts, plant, floor, camera_id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type, severity, track_ids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y, snapshot_path, summary, person_id</a:t>
            </a:r>
            <a:endParaRPr lang="en-US" sz="1500" dirty="0"/>
          </a:p>
        </p:txBody>
      </p:sp>
      <p:sp>
        <p:nvSpPr>
          <p:cNvPr id="11" name="Data 2 body"/>
          <p:cNvSpPr txBox="1"/>
          <p:nvPr/>
        </p:nvSpPr>
        <p:spPr>
          <a:xfrm>
            <a:off x="5303520" y="3429000"/>
            <a:ext cx="6062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Indexed by time. Queried by plant, floor, type and time range. The snapshot is a file beside the database. An event is open for ten minutes.</a:t>
            </a:r>
            <a:endParaRPr lang="en-US" sz="1300" dirty="0"/>
          </a:p>
        </p:txBody>
      </p:sp>
      <p:sp>
        <p:nvSpPr>
          <p:cNvPr id="12" name="Lead"/>
          <p:cNvSpPr txBox="1"/>
          <p:nvPr/>
        </p:nvSpPr>
        <p:spPr>
          <a:xfrm>
            <a:off x="548640" y="48006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The report is filled from the event row, not generated, so it cannot contain invented facts.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One WebSocket carries eleven message types</a:t>
            </a:r>
            <a:endParaRPr lang="en-US" sz="3000" dirty="0"/>
          </a:p>
        </p:txBody>
      </p:sp>
      <p:graphicFrame>
        <p:nvGraphicFramePr>
          <p:cNvPr id="24" name="Server messag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Server to browser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Carries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the whole site, on connect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every track per floor, 5 times a second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one event row, when a rule fires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focus, highlight or open a panel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transcript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what was heard or typed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answer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one sentence per message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audio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that sentence, spoken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metrics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fps, latency, GPU, memory, once a second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" name="Client messag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737360"/>
          <a:ext cx="46908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5877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Browser to server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Carries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audio_query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16 kHz mono WAV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text_query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a typed question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select_event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2"/>
                          </a:solidFill>
                        </a:rPr>
                        <a:t>a marker click</a:t>
                      </a:r>
                      <a:endParaRPr lang="en-US" sz="1200" dirty="0"/>
                    </a:p>
                  </a:txBody>
                  <a:tcPr marL="109728" marR="109728" marT="27432" marB="27432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6" name="HTTP label"/>
          <p:cNvSpPr txBox="1"/>
          <p:nvPr/>
        </p:nvSpPr>
        <p:spPr>
          <a:xfrm>
            <a:off x="69494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PLAIN HTTP</a:t>
            </a:r>
            <a:endParaRPr lang="en-US" sz="1200" dirty="0"/>
          </a:p>
        </p:txBody>
      </p:sp>
      <p:sp>
        <p:nvSpPr>
          <p:cNvPr id="7" name="HTTP endpoints"/>
          <p:cNvSpPr txBox="1"/>
          <p:nvPr/>
        </p:nvSpPr>
        <p:spPr>
          <a:xfrm>
            <a:off x="6949440" y="3931920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/api/health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/api/camera/{plant}/{floor}</a:t>
            </a:r>
            <a:endParaRPr lang="en-US" sz="1400" dirty="0"/>
          </a:p>
        </p:txBody>
      </p:sp>
      <p:sp>
        <p:nvSpPr>
          <p:cNvPr id="8" name="HTTP note"/>
          <p:cNvSpPr txBox="1"/>
          <p:nvPr/>
        </p:nvSpPr>
        <p:spPr>
          <a:xfrm>
            <a:off x="6949440" y="4617720"/>
            <a:ext cx="4690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Health reports which backends are real and which are mocks.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The assistant must call a tool before it states a fact</a:t>
            </a:r>
            <a:endParaRPr lang="en-US" sz="3000" dirty="0"/>
          </a:p>
        </p:txBody>
      </p:sp>
      <p:sp>
        <p:nvSpPr>
          <p:cNvPr id="4" name="Step line"/>
          <p:cNvSpPr/>
          <p:nvPr/>
        </p:nvSpPr>
        <p:spPr>
          <a:xfrm>
            <a:off x="1472946" y="2084832"/>
            <a:ext cx="924306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5" name="Chip 1"/>
          <p:cNvSpPr/>
          <p:nvPr/>
        </p:nvSpPr>
        <p:spPr>
          <a:xfrm>
            <a:off x="1262634" y="18745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hip 1 text"/>
          <p:cNvSpPr txBox="1"/>
          <p:nvPr/>
        </p:nvSpPr>
        <p:spPr>
          <a:xfrm>
            <a:off x="1262634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 1"/>
          <p:cNvSpPr txBox="1"/>
          <p:nvPr/>
        </p:nvSpPr>
        <p:spPr>
          <a:xfrm>
            <a:off x="621792" y="2423160"/>
            <a:ext cx="17023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Question, spoken or typed</a:t>
            </a:r>
            <a:endParaRPr lang="en-US" sz="1300" dirty="0"/>
          </a:p>
        </p:txBody>
      </p:sp>
      <p:sp>
        <p:nvSpPr>
          <p:cNvPr id="8" name="Chip 2"/>
          <p:cNvSpPr/>
          <p:nvPr/>
        </p:nvSpPr>
        <p:spPr>
          <a:xfrm>
            <a:off x="3111246" y="18745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hip 2 text"/>
          <p:cNvSpPr txBox="1"/>
          <p:nvPr/>
        </p:nvSpPr>
        <p:spPr>
          <a:xfrm>
            <a:off x="3111246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 2"/>
          <p:cNvSpPr txBox="1"/>
          <p:nvPr/>
        </p:nvSpPr>
        <p:spPr>
          <a:xfrm>
            <a:off x="2470404" y="2423160"/>
            <a:ext cx="17023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Model sees the tool schemas</a:t>
            </a:r>
            <a:endParaRPr lang="en-US" sz="1300" dirty="0"/>
          </a:p>
        </p:txBody>
      </p:sp>
      <p:sp>
        <p:nvSpPr>
          <p:cNvPr id="11" name="Chip 3"/>
          <p:cNvSpPr/>
          <p:nvPr/>
        </p:nvSpPr>
        <p:spPr>
          <a:xfrm>
            <a:off x="4959858" y="18745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hip 3 text"/>
          <p:cNvSpPr txBox="1"/>
          <p:nvPr/>
        </p:nvSpPr>
        <p:spPr>
          <a:xfrm>
            <a:off x="495985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tep 3"/>
          <p:cNvSpPr txBox="1"/>
          <p:nvPr/>
        </p:nvSpPr>
        <p:spPr>
          <a:xfrm>
            <a:off x="4319016" y="2423160"/>
            <a:ext cx="17023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Tool runs, twin reacts</a:t>
            </a:r>
            <a:endParaRPr lang="en-US" sz="1300" dirty="0"/>
          </a:p>
        </p:txBody>
      </p:sp>
      <p:sp>
        <p:nvSpPr>
          <p:cNvPr id="14" name="Chip 4"/>
          <p:cNvSpPr/>
          <p:nvPr/>
        </p:nvSpPr>
        <p:spPr>
          <a:xfrm>
            <a:off x="6808470" y="18745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Chip 4 text"/>
          <p:cNvSpPr txBox="1"/>
          <p:nvPr/>
        </p:nvSpPr>
        <p:spPr>
          <a:xfrm>
            <a:off x="680847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tep 4"/>
          <p:cNvSpPr txBox="1"/>
          <p:nvPr/>
        </p:nvSpPr>
        <p:spPr>
          <a:xfrm>
            <a:off x="6167628" y="2423160"/>
            <a:ext cx="17023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Up to three rounds</a:t>
            </a:r>
            <a:endParaRPr lang="en-US" sz="1300" dirty="0"/>
          </a:p>
        </p:txBody>
      </p:sp>
      <p:sp>
        <p:nvSpPr>
          <p:cNvPr id="17" name="Chip 5"/>
          <p:cNvSpPr/>
          <p:nvPr/>
        </p:nvSpPr>
        <p:spPr>
          <a:xfrm>
            <a:off x="8657082" y="18745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Chip 5 text"/>
          <p:cNvSpPr txBox="1"/>
          <p:nvPr/>
        </p:nvSpPr>
        <p:spPr>
          <a:xfrm>
            <a:off x="8657082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Step 5"/>
          <p:cNvSpPr txBox="1"/>
          <p:nvPr/>
        </p:nvSpPr>
        <p:spPr>
          <a:xfrm>
            <a:off x="8016240" y="2423160"/>
            <a:ext cx="17023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Final answer, two sentences</a:t>
            </a:r>
            <a:endParaRPr lang="en-US" sz="1300" dirty="0"/>
          </a:p>
        </p:txBody>
      </p:sp>
      <p:sp>
        <p:nvSpPr>
          <p:cNvPr id="20" name="Chip 6"/>
          <p:cNvSpPr/>
          <p:nvPr/>
        </p:nvSpPr>
        <p:spPr>
          <a:xfrm>
            <a:off x="10505694" y="18745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Chip 6 text"/>
          <p:cNvSpPr txBox="1"/>
          <p:nvPr/>
        </p:nvSpPr>
        <p:spPr>
          <a:xfrm>
            <a:off x="10505694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2" name="Step 6"/>
          <p:cNvSpPr txBox="1"/>
          <p:nvPr/>
        </p:nvSpPr>
        <p:spPr>
          <a:xfrm>
            <a:off x="9864852" y="2423160"/>
            <a:ext cx="17023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Spoken, sentence by sentence</a:t>
            </a:r>
            <a:endParaRPr lang="en-US" sz="1300" dirty="0"/>
          </a:p>
        </p:txBody>
      </p:sp>
      <p:sp>
        <p:nvSpPr>
          <p:cNvPr id="23" name="Card 1"/>
          <p:cNvSpPr/>
          <p:nvPr/>
        </p:nvSpPr>
        <p:spPr>
          <a:xfrm>
            <a:off x="548640" y="3611880"/>
            <a:ext cx="3514344" cy="2011680"/>
          </a:xfrm>
          <a:prstGeom prst="roundRect">
            <a:avLst>
              <a:gd name="adj" fmla="val 454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Card 1 head"/>
          <p:cNvSpPr txBox="1"/>
          <p:nvPr/>
        </p:nvSpPr>
        <p:spPr>
          <a:xfrm>
            <a:off x="822960" y="3813048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JSON tool calls</a:t>
            </a:r>
            <a:endParaRPr lang="en-US" sz="1900" dirty="0"/>
          </a:p>
        </p:txBody>
      </p:sp>
      <p:sp>
        <p:nvSpPr>
          <p:cNvPr id="25" name="Card 1 body"/>
          <p:cNvSpPr txBox="1"/>
          <p:nvPr/>
        </p:nvSpPr>
        <p:spPr>
          <a:xfrm>
            <a:off x="822960" y="4297680"/>
            <a:ext cx="2965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model answers with a tool name and arguments. The app parses them, so any model can be used.</a:t>
            </a:r>
            <a:endParaRPr lang="en-US" sz="1400" dirty="0"/>
          </a:p>
        </p:txBody>
      </p:sp>
      <p:sp>
        <p:nvSpPr>
          <p:cNvPr id="26" name="Card 2"/>
          <p:cNvSpPr/>
          <p:nvPr/>
        </p:nvSpPr>
        <p:spPr>
          <a:xfrm>
            <a:off x="4337304" y="3611880"/>
            <a:ext cx="3514344" cy="2011680"/>
          </a:xfrm>
          <a:prstGeom prst="roundRect">
            <a:avLst>
              <a:gd name="adj" fmla="val 454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Card 2 head"/>
          <p:cNvSpPr txBox="1"/>
          <p:nvPr/>
        </p:nvSpPr>
        <p:spPr>
          <a:xfrm>
            <a:off x="4611624" y="3813048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Short memory</a:t>
            </a:r>
            <a:endParaRPr lang="en-US" sz="1900" dirty="0"/>
          </a:p>
        </p:txBody>
      </p:sp>
      <p:sp>
        <p:nvSpPr>
          <p:cNvPr id="28" name="Card 2 body"/>
          <p:cNvSpPr txBox="1"/>
          <p:nvPr/>
        </p:nvSpPr>
        <p:spPr>
          <a:xfrm>
            <a:off x="4611624" y="4297680"/>
            <a:ext cx="2965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last six turns, the current view and the last event id, so “that” and “there” resolve.</a:t>
            </a:r>
            <a:endParaRPr lang="en-US" sz="1400" dirty="0"/>
          </a:p>
        </p:txBody>
      </p:sp>
      <p:sp>
        <p:nvSpPr>
          <p:cNvPr id="29" name="Card 3"/>
          <p:cNvSpPr/>
          <p:nvPr/>
        </p:nvSpPr>
        <p:spPr>
          <a:xfrm>
            <a:off x="8125968" y="3611880"/>
            <a:ext cx="3514344" cy="2011680"/>
          </a:xfrm>
          <a:prstGeom prst="roundRect">
            <a:avLst>
              <a:gd name="adj" fmla="val 454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Card 3 head"/>
          <p:cNvSpPr txBox="1"/>
          <p:nvPr/>
        </p:nvSpPr>
        <p:spPr>
          <a:xfrm>
            <a:off x="8400288" y="3813048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Honest</a:t>
            </a:r>
            <a:endParaRPr lang="en-US" sz="1900" dirty="0"/>
          </a:p>
        </p:txBody>
      </p:sp>
      <p:sp>
        <p:nvSpPr>
          <p:cNvPr id="31" name="Card 3 body"/>
          <p:cNvSpPr txBox="1"/>
          <p:nvPr/>
        </p:nvSpPr>
        <p:spPr>
          <a:xfrm>
            <a:off x="8400288" y="4297680"/>
            <a:ext cx="2965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“I can’t see that” when the tools return nothing. No guessing.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Seven tools connect the model to the site</a:t>
            </a:r>
            <a:endParaRPr lang="en-US" sz="3000" dirty="0"/>
          </a:p>
        </p:txBody>
      </p:sp>
      <p:graphicFrame>
        <p:nvGraphicFramePr>
          <p:cNvPr id="26" name="Too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029200"/>
                <a:gridCol w="36850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Tool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Returns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Effect on the twin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query_events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Events by plant, floor, type and time.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Highlights their markers.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live_state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People, vehicles and open events now.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None.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look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The vision model’s answer on the live frame.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Focuses that floor.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focus_view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Nothing.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Flies the camera there.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show_event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Nothing.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Opens the event panel.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identify_person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Employee, visit timing, other incidents.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Opens the person panel.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write_report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What, where, when, who, severity, action.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Opens the report panel.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5" name="Note"/>
          <p:cNvSpPr txBox="1"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On a laptop a keyword router calls the same seven tools, so the interface never changes.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Voice: the target is 2.5 seconds to the first spoken word</a:t>
            </a:r>
            <a:endParaRPr lang="en-US" sz="3000" dirty="0"/>
          </a:p>
        </p:txBody>
      </p:sp>
      <p:sp>
        <p:nvSpPr>
          <p:cNvPr id="4" name="Step line"/>
          <p:cNvSpPr/>
          <p:nvPr/>
        </p:nvSpPr>
        <p:spPr>
          <a:xfrm>
            <a:off x="1472946" y="2084832"/>
            <a:ext cx="9243060" cy="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solid"/>
          </a:ln>
        </p:spPr>
      </p:sp>
      <p:sp>
        <p:nvSpPr>
          <p:cNvPr id="5" name="Chip 1"/>
          <p:cNvSpPr/>
          <p:nvPr/>
        </p:nvSpPr>
        <p:spPr>
          <a:xfrm>
            <a:off x="1262634" y="18745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hip 1 text"/>
          <p:cNvSpPr txBox="1"/>
          <p:nvPr/>
        </p:nvSpPr>
        <p:spPr>
          <a:xfrm>
            <a:off x="1262634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 1"/>
          <p:cNvSpPr txBox="1"/>
          <p:nvPr/>
        </p:nvSpPr>
        <p:spPr>
          <a:xfrm>
            <a:off x="621792" y="2423160"/>
            <a:ext cx="17023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Hold to talk</a:t>
            </a:r>
            <a:endParaRPr lang="en-US" sz="1300" dirty="0"/>
          </a:p>
        </p:txBody>
      </p:sp>
      <p:sp>
        <p:nvSpPr>
          <p:cNvPr id="8" name="Chip 2"/>
          <p:cNvSpPr/>
          <p:nvPr/>
        </p:nvSpPr>
        <p:spPr>
          <a:xfrm>
            <a:off x="3111246" y="18745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hip 2 text"/>
          <p:cNvSpPr txBox="1"/>
          <p:nvPr/>
        </p:nvSpPr>
        <p:spPr>
          <a:xfrm>
            <a:off x="3111246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 2"/>
          <p:cNvSpPr txBox="1"/>
          <p:nvPr/>
        </p:nvSpPr>
        <p:spPr>
          <a:xfrm>
            <a:off x="2470404" y="2423160"/>
            <a:ext cx="17023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16 kHz WAV over the socket</a:t>
            </a:r>
            <a:endParaRPr lang="en-US" sz="1300" dirty="0"/>
          </a:p>
        </p:txBody>
      </p:sp>
      <p:sp>
        <p:nvSpPr>
          <p:cNvPr id="11" name="Chip 3"/>
          <p:cNvSpPr/>
          <p:nvPr/>
        </p:nvSpPr>
        <p:spPr>
          <a:xfrm>
            <a:off x="4959858" y="18745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hip 3 text"/>
          <p:cNvSpPr txBox="1"/>
          <p:nvPr/>
        </p:nvSpPr>
        <p:spPr>
          <a:xfrm>
            <a:off x="495985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tep 3"/>
          <p:cNvSpPr txBox="1"/>
          <p:nvPr/>
        </p:nvSpPr>
        <p:spPr>
          <a:xfrm>
            <a:off x="4319016" y="2423160"/>
            <a:ext cx="17023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Whisper transcribes</a:t>
            </a:r>
            <a:endParaRPr lang="en-US" sz="1300" dirty="0"/>
          </a:p>
        </p:txBody>
      </p:sp>
      <p:sp>
        <p:nvSpPr>
          <p:cNvPr id="14" name="Chip 4"/>
          <p:cNvSpPr/>
          <p:nvPr/>
        </p:nvSpPr>
        <p:spPr>
          <a:xfrm>
            <a:off x="6808470" y="18745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Chip 4 text"/>
          <p:cNvSpPr txBox="1"/>
          <p:nvPr/>
        </p:nvSpPr>
        <p:spPr>
          <a:xfrm>
            <a:off x="680847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tep 4"/>
          <p:cNvSpPr txBox="1"/>
          <p:nvPr/>
        </p:nvSpPr>
        <p:spPr>
          <a:xfrm>
            <a:off x="6167628" y="2423160"/>
            <a:ext cx="17023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Agent answers</a:t>
            </a:r>
            <a:endParaRPr lang="en-US" sz="1300" dirty="0"/>
          </a:p>
        </p:txBody>
      </p:sp>
      <p:sp>
        <p:nvSpPr>
          <p:cNvPr id="17" name="Chip 5"/>
          <p:cNvSpPr/>
          <p:nvPr/>
        </p:nvSpPr>
        <p:spPr>
          <a:xfrm>
            <a:off x="8657082" y="18745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Chip 5 text"/>
          <p:cNvSpPr txBox="1"/>
          <p:nvPr/>
        </p:nvSpPr>
        <p:spPr>
          <a:xfrm>
            <a:off x="8657082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Step 5"/>
          <p:cNvSpPr txBox="1"/>
          <p:nvPr/>
        </p:nvSpPr>
        <p:spPr>
          <a:xfrm>
            <a:off x="8016240" y="2423160"/>
            <a:ext cx="17023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Piper speaks each sentence</a:t>
            </a:r>
            <a:endParaRPr lang="en-US" sz="1300" dirty="0"/>
          </a:p>
        </p:txBody>
      </p:sp>
      <p:sp>
        <p:nvSpPr>
          <p:cNvPr id="20" name="Chip 6"/>
          <p:cNvSpPr/>
          <p:nvPr/>
        </p:nvSpPr>
        <p:spPr>
          <a:xfrm>
            <a:off x="10505694" y="187452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Chip 6 text"/>
          <p:cNvSpPr txBox="1"/>
          <p:nvPr/>
        </p:nvSpPr>
        <p:spPr>
          <a:xfrm>
            <a:off x="10505694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2" name="Step 6"/>
          <p:cNvSpPr txBox="1"/>
          <p:nvPr/>
        </p:nvSpPr>
        <p:spPr>
          <a:xfrm>
            <a:off x="9864852" y="2423160"/>
            <a:ext cx="17023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Queued playback</a:t>
            </a:r>
            <a:endParaRPr lang="en-US" sz="1300" dirty="0"/>
          </a:p>
        </p:txBody>
      </p:sp>
      <p:sp>
        <p:nvSpPr>
          <p:cNvPr id="23" name="Voice stat 1 value"/>
          <p:cNvSpPr txBox="1"/>
          <p:nvPr/>
        </p:nvSpPr>
        <p:spPr>
          <a:xfrm>
            <a:off x="548640" y="3520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2.5 s</a:t>
            </a:r>
            <a:endParaRPr lang="en-US" sz="5400" dirty="0"/>
          </a:p>
        </p:txBody>
      </p:sp>
      <p:sp>
        <p:nvSpPr>
          <p:cNvPr id="24" name="Voice stat 1 label"/>
          <p:cNvSpPr txBox="1"/>
          <p:nvPr/>
        </p:nvSpPr>
        <p:spPr>
          <a:xfrm>
            <a:off x="548640" y="4480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target, from release to first audio</a:t>
            </a:r>
            <a:endParaRPr lang="en-US" sz="1400" dirty="0"/>
          </a:p>
        </p:txBody>
      </p:sp>
      <p:sp>
        <p:nvSpPr>
          <p:cNvPr id="25" name="Voice stat 2 value"/>
          <p:cNvSpPr txBox="1"/>
          <p:nvPr/>
        </p:nvSpPr>
        <p:spPr>
          <a:xfrm>
            <a:off x="4343400" y="3520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3.8 s</a:t>
            </a:r>
            <a:endParaRPr lang="en-US" sz="5400" dirty="0"/>
          </a:p>
        </p:txBody>
      </p:sp>
      <p:sp>
        <p:nvSpPr>
          <p:cNvPr id="26" name="Voice stat 2 label"/>
          <p:cNvSpPr txBox="1"/>
          <p:nvPr/>
        </p:nvSpPr>
        <p:spPr>
          <a:xfrm>
            <a:off x="4343400" y="4480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measured on a laptop CPU, mock assistant</a:t>
            </a:r>
            <a:endParaRPr lang="en-US" sz="1400" dirty="0"/>
          </a:p>
        </p:txBody>
      </p:sp>
      <p:sp>
        <p:nvSpPr>
          <p:cNvPr id="27" name="Voice stat 3 value"/>
          <p:cNvSpPr txBox="1"/>
          <p:nvPr/>
        </p:nvSpPr>
        <p:spPr>
          <a:xfrm>
            <a:off x="8138160" y="3520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5 s</a:t>
            </a:r>
            <a:endParaRPr lang="en-US" sz="5400" dirty="0"/>
          </a:p>
        </p:txBody>
      </p:sp>
      <p:sp>
        <p:nvSpPr>
          <p:cNvPr id="28" name="Voice stat 3 label"/>
          <p:cNvSpPr txBox="1"/>
          <p:nvPr/>
        </p:nvSpPr>
        <p:spPr>
          <a:xfrm>
            <a:off x="8138160" y="44805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hard limit. Jetson: not measured yet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Identity comes from a badge feed, never from a face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548640" y="1737360"/>
            <a:ext cx="3514344" cy="160020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Card 1 head"/>
          <p:cNvSpPr txBox="1"/>
          <p:nvPr/>
        </p:nvSpPr>
        <p:spPr>
          <a:xfrm>
            <a:off x="822960" y="1938528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Synthetic directory</a:t>
            </a:r>
            <a:endParaRPr lang="en-US" sz="1900" dirty="0"/>
          </a:p>
        </p:txBody>
      </p:sp>
      <p:sp>
        <p:nvSpPr>
          <p:cNvPr id="6" name="Card 1 body"/>
          <p:cNvSpPr txBox="1"/>
          <p:nvPr/>
        </p:nvSpPr>
        <p:spPr>
          <a:xfrm>
            <a:off x="822960" y="242316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Fictional employees: role, shift, supervisor, authorised zones.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4337304" y="1737360"/>
            <a:ext cx="3514344" cy="160020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ard 2 head"/>
          <p:cNvSpPr txBox="1"/>
          <p:nvPr/>
        </p:nvSpPr>
        <p:spPr>
          <a:xfrm>
            <a:off x="4611624" y="1938528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Simulated badge feed</a:t>
            </a:r>
            <a:endParaRPr lang="en-US" sz="1900" dirty="0"/>
          </a:p>
        </p:txBody>
      </p:sp>
      <p:sp>
        <p:nvSpPr>
          <p:cNvPr id="9" name="Card 2 body"/>
          <p:cNvSpPr txBox="1"/>
          <p:nvPr/>
        </p:nvSpPr>
        <p:spPr>
          <a:xfrm>
            <a:off x="4611624" y="242316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Gives each tracked person on a floor one of its employees.</a:t>
            </a:r>
            <a:endParaRPr lang="en-US" sz="1400" dirty="0"/>
          </a:p>
        </p:txBody>
      </p:sp>
      <p:sp>
        <p:nvSpPr>
          <p:cNvPr id="10" name="Card 3"/>
          <p:cNvSpPr/>
          <p:nvPr/>
        </p:nvSpPr>
        <p:spPr>
          <a:xfrm>
            <a:off x="8125968" y="1737360"/>
            <a:ext cx="3514344" cy="160020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Card 3 head"/>
          <p:cNvSpPr txBox="1"/>
          <p:nvPr/>
        </p:nvSpPr>
        <p:spPr>
          <a:xfrm>
            <a:off x="8400288" y="1938528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One class to replace</a:t>
            </a:r>
            <a:endParaRPr lang="en-US" sz="1900" dirty="0"/>
          </a:p>
        </p:txBody>
      </p:sp>
      <p:sp>
        <p:nvSpPr>
          <p:cNvPr id="12" name="Card 3 body"/>
          <p:cNvSpPr txBox="1"/>
          <p:nvPr/>
        </p:nvSpPr>
        <p:spPr>
          <a:xfrm>
            <a:off x="8400288" y="242316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real access-control system plugs in at BadgeFeed.</a:t>
            </a:r>
            <a:endParaRPr lang="en-US" sz="1400" dirty="0"/>
          </a:p>
        </p:txBody>
      </p:sp>
      <p:sp>
        <p:nvSpPr>
          <p:cNvPr id="13" name="Card 4"/>
          <p:cNvSpPr/>
          <p:nvPr/>
        </p:nvSpPr>
        <p:spPr>
          <a:xfrm>
            <a:off x="548640" y="3611880"/>
            <a:ext cx="3514344" cy="160020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Card 4 head"/>
          <p:cNvSpPr txBox="1"/>
          <p:nvPr/>
        </p:nvSpPr>
        <p:spPr>
          <a:xfrm>
            <a:off x="822960" y="3813048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Authorised means silent</a:t>
            </a:r>
            <a:endParaRPr lang="en-US" sz="1900" dirty="0"/>
          </a:p>
        </p:txBody>
      </p:sp>
      <p:sp>
        <p:nvSpPr>
          <p:cNvPr id="15" name="Card 4 body"/>
          <p:cNvSpPr txBox="1"/>
          <p:nvPr/>
        </p:nvSpPr>
        <p:spPr>
          <a:xfrm>
            <a:off x="822960" y="429768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person allowed in a zone raises no event.</a:t>
            </a:r>
            <a:endParaRPr lang="en-US" sz="1400" dirty="0"/>
          </a:p>
        </p:txBody>
      </p:sp>
      <p:sp>
        <p:nvSpPr>
          <p:cNvPr id="16" name="Card 5"/>
          <p:cNvSpPr/>
          <p:nvPr/>
        </p:nvSpPr>
        <p:spPr>
          <a:xfrm>
            <a:off x="4337304" y="3611880"/>
            <a:ext cx="3514344" cy="160020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Card 5 head"/>
          <p:cNvSpPr txBox="1"/>
          <p:nvPr/>
        </p:nvSpPr>
        <p:spPr>
          <a:xfrm>
            <a:off x="4611624" y="3813048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Visit timing</a:t>
            </a:r>
            <a:endParaRPr lang="en-US" sz="1900" dirty="0"/>
          </a:p>
        </p:txBody>
      </p:sp>
      <p:sp>
        <p:nvSpPr>
          <p:cNvPr id="18" name="Card 5 body"/>
          <p:cNvSpPr txBox="1"/>
          <p:nvPr/>
        </p:nvSpPr>
        <p:spPr>
          <a:xfrm>
            <a:off x="4611624" y="429768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Entered, alert raised, left, time in the zone.</a:t>
            </a:r>
            <a:endParaRPr lang="en-US" sz="1400" dirty="0"/>
          </a:p>
        </p:txBody>
      </p:sp>
      <p:sp>
        <p:nvSpPr>
          <p:cNvPr id="19" name="Card 6"/>
          <p:cNvSpPr/>
          <p:nvPr/>
        </p:nvSpPr>
        <p:spPr>
          <a:xfrm>
            <a:off x="8125968" y="3611880"/>
            <a:ext cx="3514344" cy="1600200"/>
          </a:xfrm>
          <a:prstGeom prst="roundRect">
            <a:avLst>
              <a:gd name="adj" fmla="val 571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Card 6 head"/>
          <p:cNvSpPr txBox="1"/>
          <p:nvPr/>
        </p:nvSpPr>
        <p:spPr>
          <a:xfrm>
            <a:off x="8400288" y="3813048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Prompt rule</a:t>
            </a:r>
            <a:endParaRPr lang="en-US" sz="1900" dirty="0"/>
          </a:p>
        </p:txBody>
      </p:sp>
      <p:sp>
        <p:nvSpPr>
          <p:cNvPr id="21" name="Card 6 body"/>
          <p:cNvSpPr txBox="1"/>
          <p:nvPr/>
        </p:nvSpPr>
        <p:spPr>
          <a:xfrm>
            <a:off x="8400288" y="4297680"/>
            <a:ext cx="2965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model may not name anyone from appearance.</a:t>
            </a:r>
            <a:endParaRPr lang="en-US" sz="1400" dirty="0"/>
          </a:p>
        </p:txBody>
      </p:sp>
      <p:sp>
        <p:nvSpPr>
          <p:cNvPr id="22" name="Note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With real footage the badge goes to whoever the tracker sees: it shows the flow, it does not know who is in the video.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The frontend is plain ES modules and Three.js</a:t>
            </a:r>
            <a:endParaRPr lang="en-US" sz="3000" dirty="0"/>
          </a:p>
        </p:txBody>
      </p:sp>
      <p:graphicFrame>
        <p:nvGraphicFramePr>
          <p:cNvPr id="29" name="Fronten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27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Module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twin.js, fixtures.js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Plants, floors, equipment and zones built from the site message.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tracks.js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Instanced markers, positions interpolated between state messages.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events.js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Pulsing event markers, click picking, the side panel.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camera.js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Camera view of the focused floor; share a webcam or a recording.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voice.js, wave.js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Push-to-talk, queued playback of the answer, the waveform.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hud.js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Per-stream fps, voice latency, GPU, memory, the privacy line.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scene.js, ws.js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Renderer and camera tweens; the one WebSocket.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5" name="Note"/>
          <p:cNvSpPr txBox="1"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No bundler and no framework. Three.js is vendored, so the page loads with no network.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Three scripts take a bare Jetson to a running demo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548640" y="1737360"/>
            <a:ext cx="3514344" cy="228600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Card 1 head"/>
          <p:cNvSpPr txBox="1"/>
          <p:nvPr/>
        </p:nvSpPr>
        <p:spPr>
          <a:xfrm>
            <a:off x="822960" y="1938528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setup_jetson.sh</a:t>
            </a:r>
            <a:endParaRPr lang="en-US" sz="1900" dirty="0"/>
          </a:p>
        </p:txBody>
      </p:sp>
      <p:sp>
        <p:nvSpPr>
          <p:cNvPr id="6" name="Card 1 body"/>
          <p:cNvSpPr txBox="1"/>
          <p:nvPr/>
        </p:nvSpPr>
        <p:spPr>
          <a:xfrm>
            <a:off x="822960" y="2423160"/>
            <a:ext cx="29657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Once, with the network. Installs packages one at a time, downloads the models, exports the detector to TensorRT, fetches the videos.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4337304" y="1737360"/>
            <a:ext cx="3514344" cy="228600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ard 2 head"/>
          <p:cNvSpPr txBox="1"/>
          <p:nvPr/>
        </p:nvSpPr>
        <p:spPr>
          <a:xfrm>
            <a:off x="4611624" y="1938528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preflight.sh</a:t>
            </a:r>
            <a:endParaRPr lang="en-US" sz="1900" dirty="0"/>
          </a:p>
        </p:txBody>
      </p:sp>
      <p:sp>
        <p:nvSpPr>
          <p:cNvPr id="9" name="Card 2 body"/>
          <p:cNvSpPr txBox="1"/>
          <p:nvPr/>
        </p:nvSpPr>
        <p:spPr>
          <a:xfrm>
            <a:off x="4611624" y="2423160"/>
            <a:ext cx="29657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Every start. Checks CUDA, the hardware decoder, disk in /cache, port 8000, the Python modules, every model and every video.</a:t>
            </a:r>
            <a:endParaRPr lang="en-US" sz="1400" dirty="0"/>
          </a:p>
        </p:txBody>
      </p:sp>
      <p:sp>
        <p:nvSpPr>
          <p:cNvPr id="10" name="Card 3"/>
          <p:cNvSpPr/>
          <p:nvPr/>
        </p:nvSpPr>
        <p:spPr>
          <a:xfrm>
            <a:off x="8125968" y="1737360"/>
            <a:ext cx="3514344" cy="2286000"/>
          </a:xfrm>
          <a:prstGeom prst="roundRect">
            <a:avLst>
              <a:gd name="adj" fmla="val 4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Card 3 head"/>
          <p:cNvSpPr txBox="1"/>
          <p:nvPr/>
        </p:nvSpPr>
        <p:spPr>
          <a:xfrm>
            <a:off x="8400288" y="1938528"/>
            <a:ext cx="2965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run.sh</a:t>
            </a:r>
            <a:endParaRPr lang="en-US" sz="1900" dirty="0"/>
          </a:p>
        </p:txBody>
      </p:sp>
      <p:sp>
        <p:nvSpPr>
          <p:cNvPr id="12" name="Card 3 body"/>
          <p:cNvSpPr txBox="1"/>
          <p:nvPr/>
        </p:nvSpPr>
        <p:spPr>
          <a:xfrm>
            <a:off x="8400288" y="2423160"/>
            <a:ext cx="29657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Every start. All four backends real, data in /cache, offline flags set, then the app on port 8000.</a:t>
            </a:r>
            <a:endParaRPr lang="en-US" sz="1400" dirty="0"/>
          </a:p>
        </p:txBody>
      </p:sp>
      <p:sp>
        <p:nvSpPr>
          <p:cNvPr id="13" name="Points"/>
          <p:cNvSpPr txBox="1"/>
          <p:nvPr/>
        </p:nvSpPr>
        <p:spPr>
          <a:xfrm>
            <a:off x="548640" y="438912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No sudo, apt or Docker; torch, torchvision and numpy are never touched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8 CPU cores, 15 GB of memory, one GPU shared with other teams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Written and reviewed. Not yet run on the device.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Built spec first, and tested without a GPU</a:t>
            </a:r>
            <a:endParaRPr lang="en-US" sz="3000" dirty="0"/>
          </a:p>
        </p:txBody>
      </p:sp>
      <p:sp>
        <p:nvSpPr>
          <p:cNvPr id="4" name="Process 1 head"/>
          <p:cNvSpPr txBox="1"/>
          <p:nvPr/>
        </p:nvSpPr>
        <p:spPr>
          <a:xfrm>
            <a:off x="54864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How the work is organised</a:t>
            </a:r>
            <a:endParaRPr lang="en-US" sz="1800" dirty="0"/>
          </a:p>
        </p:txBody>
      </p:sp>
      <p:sp>
        <p:nvSpPr>
          <p:cNvPr id="5" name="Points"/>
          <p:cNvSpPr txBox="1"/>
          <p:nvPr/>
        </p:nvSpPr>
        <p:spPr>
          <a:xfrm>
            <a:off x="548640" y="228600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spec.md says what: user stories with acceptance criteria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plan.md says how: modules, protocol, models, memory budget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tasks.md says in what order: one task at a time, each with a “done when”</a:t>
            </a:r>
            <a:endParaRPr lang="en-US" sz="1600" dirty="0"/>
          </a:p>
        </p:txBody>
      </p:sp>
      <p:sp>
        <p:nvSpPr>
          <p:cNvPr id="6" name="Process 2 head"/>
          <p:cNvSpPr txBox="1"/>
          <p:nvPr/>
        </p:nvSpPr>
        <p:spPr>
          <a:xfrm>
            <a:off x="621792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How it is checked</a:t>
            </a:r>
            <a:endParaRPr lang="en-US" sz="1800" dirty="0"/>
          </a:p>
        </p:txBody>
      </p:sp>
      <p:sp>
        <p:nvSpPr>
          <p:cNvPr id="7" name="Points"/>
          <p:cNvSpPr txBox="1"/>
          <p:nvPr/>
        </p:nvSpPr>
        <p:spPr>
          <a:xfrm>
            <a:off x="6217920" y="228600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77 automated tests, mock mode only, no GPU needed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 tool-calling test set of 15 questions; the real model must get 13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The golden path: seven steps, three clean runs on the Jetson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Known risks, and what is already in place for each</a:t>
            </a:r>
            <a:endParaRPr lang="en-US" sz="3000" dirty="0"/>
          </a:p>
        </p:txBody>
      </p:sp>
      <p:graphicFrame>
        <p:nvGraphicFramePr>
          <p:cNvPr id="32" name="Risk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7025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Risk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Mitigation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The shared GPU slows everything.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Detector held at 10 fps, models pre-warmed, a backup video recorded.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 dependency replaces torch.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Every install is dry-run checked first; setup stops if a version changes.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 small model is weak at tool calling.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JSON-constrained calls, and the keyword router as the fallback.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The microphone is blocked in the browser.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The text box does the same thing.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 model fails to load on stage.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2"/>
                          </a:solidFill>
                        </a:rPr>
                        <a:t>That backend starts as its mock and the rest keeps working.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B0B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chemeClr val="tx1"/>
                </a:solidFill>
              </a:rPr>
              <a:t>SECTION 5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7889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Status and demo</a:t>
            </a:r>
            <a:endParaRPr lang="en-US" sz="6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The software is proven on a laptop; the Jetson run is the next step</a:t>
            </a:r>
            <a:endParaRPr lang="en-US" sz="3000" dirty="0"/>
          </a:p>
        </p:txBody>
      </p:sp>
      <p:sp>
        <p:nvSpPr>
          <p:cNvPr id="4" name="Stat 1 value"/>
          <p:cNvSpPr txBox="1"/>
          <p:nvPr/>
        </p:nvSpPr>
        <p:spPr>
          <a:xfrm>
            <a:off x="548640" y="1600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</a:rPr>
              <a:t>77</a:t>
            </a:r>
            <a:endParaRPr lang="en-US" sz="6400" dirty="0"/>
          </a:p>
        </p:txBody>
      </p:sp>
      <p:sp>
        <p:nvSpPr>
          <p:cNvPr id="5" name="Stat 1 label"/>
          <p:cNvSpPr txBox="1"/>
          <p:nvPr/>
        </p:nvSpPr>
        <p:spPr>
          <a:xfrm>
            <a:off x="548640" y="2560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automated tests passing</a:t>
            </a:r>
            <a:endParaRPr lang="en-US" sz="1400" dirty="0"/>
          </a:p>
        </p:txBody>
      </p:sp>
      <p:sp>
        <p:nvSpPr>
          <p:cNvPr id="6" name="Stat 2 value"/>
          <p:cNvSpPr txBox="1"/>
          <p:nvPr/>
        </p:nvSpPr>
        <p:spPr>
          <a:xfrm>
            <a:off x="4343400" y="1600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2"/>
                </a:solidFill>
              </a:rPr>
              <a:t>6</a:t>
            </a:r>
            <a:endParaRPr lang="en-US" sz="6400" dirty="0"/>
          </a:p>
        </p:txBody>
      </p:sp>
      <p:sp>
        <p:nvSpPr>
          <p:cNvPr id="7" name="Stat 2 label"/>
          <p:cNvSpPr txBox="1"/>
          <p:nvPr/>
        </p:nvSpPr>
        <p:spPr>
          <a:xfrm>
            <a:off x="4343400" y="2560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camera streams detected together on a laptop CPU</a:t>
            </a:r>
            <a:endParaRPr lang="en-US" sz="1400" dirty="0"/>
          </a:p>
        </p:txBody>
      </p:sp>
      <p:sp>
        <p:nvSpPr>
          <p:cNvPr id="8" name="Stat 3 value"/>
          <p:cNvSpPr txBox="1"/>
          <p:nvPr/>
        </p:nvSpPr>
        <p:spPr>
          <a:xfrm>
            <a:off x="8138160" y="1600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4"/>
                </a:solidFill>
              </a:rPr>
              <a:t>0</a:t>
            </a:r>
            <a:endParaRPr lang="en-US" sz="6400" dirty="0"/>
          </a:p>
        </p:txBody>
      </p:sp>
      <p:sp>
        <p:nvSpPr>
          <p:cNvPr id="9" name="Stat 3 label"/>
          <p:cNvSpPr txBox="1"/>
          <p:nvPr/>
        </p:nvSpPr>
        <p:spPr>
          <a:xfrm>
            <a:off x="8138160" y="2560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runs on a Jetson so far</a:t>
            </a:r>
            <a:endParaRPr lang="en-US" sz="1400" dirty="0"/>
          </a:p>
        </p:txBody>
      </p:sp>
      <p:sp>
        <p:nvSpPr>
          <p:cNvPr id="10" name="Status 1 head"/>
          <p:cNvSpPr txBox="1"/>
          <p:nvPr/>
        </p:nvSpPr>
        <p:spPr>
          <a:xfrm>
            <a:off x="548640" y="3474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Shown working</a:t>
            </a:r>
            <a:endParaRPr lang="en-US" sz="1800" dirty="0"/>
          </a:p>
        </p:txBody>
      </p:sp>
      <p:sp>
        <p:nvSpPr>
          <p:cNvPr id="11" name="Points"/>
          <p:cNvSpPr txBox="1"/>
          <p:nvPr/>
        </p:nvSpPr>
        <p:spPr>
          <a:xfrm>
            <a:off x="548640" y="397764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Twin, events, conversation, report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Real detection, speech in and speech out on CPU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Webcam and shared recording</a:t>
            </a:r>
            <a:endParaRPr lang="en-US" sz="1800" dirty="0"/>
          </a:p>
        </p:txBody>
      </p:sp>
      <p:sp>
        <p:nvSpPr>
          <p:cNvPr id="12" name="Status 2 head"/>
          <p:cNvSpPr txBox="1"/>
          <p:nvPr/>
        </p:nvSpPr>
        <p:spPr>
          <a:xfrm>
            <a:off x="6217920" y="3474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Still to prove on the Jetson</a:t>
            </a:r>
            <a:endParaRPr lang="en-US" sz="1800" dirty="0"/>
          </a:p>
        </p:txBody>
      </p:sp>
      <p:sp>
        <p:nvSpPr>
          <p:cNvPr id="13" name="Points"/>
          <p:cNvSpPr txBox="1"/>
          <p:nvPr/>
        </p:nvSpPr>
        <p:spPr>
          <a:xfrm>
            <a:off x="6217920" y="397764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Hardware video decode and TensorRT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3B model picks tools, 13 of 15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10 fps on 6 streams, voice under 2.5 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The demo is seven steps, from overview to incident report</a:t>
            </a:r>
            <a:endParaRPr lang="en-US" sz="3000" dirty="0"/>
          </a:p>
        </p:txBody>
      </p:sp>
      <p:sp>
        <p:nvSpPr>
          <p:cNvPr id="4" name="Chip 1"/>
          <p:cNvSpPr/>
          <p:nvPr/>
        </p:nvSpPr>
        <p:spPr>
          <a:xfrm>
            <a:off x="548640" y="182880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hip 1 text"/>
          <p:cNvSpPr txBox="1"/>
          <p:nvPr/>
        </p:nvSpPr>
        <p:spPr>
          <a:xfrm>
            <a:off x="54864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ep 1"/>
          <p:cNvSpPr txBox="1"/>
          <p:nvPr/>
        </p:nvSpPr>
        <p:spPr>
          <a:xfrm>
            <a:off x="1188720" y="18288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Twin loads: six streams live, metrics visible</a:t>
            </a:r>
            <a:endParaRPr lang="en-US" sz="1800" dirty="0"/>
          </a:p>
        </p:txBody>
      </p:sp>
      <p:sp>
        <p:nvSpPr>
          <p:cNvPr id="7" name="Chip 2"/>
          <p:cNvSpPr/>
          <p:nvPr/>
        </p:nvSpPr>
        <p:spPr>
          <a:xfrm>
            <a:off x="548640" y="26974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hip 2 text"/>
          <p:cNvSpPr txBox="1"/>
          <p:nvPr/>
        </p:nvSpPr>
        <p:spPr>
          <a:xfrm>
            <a:off x="54864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Step 2"/>
          <p:cNvSpPr txBox="1"/>
          <p:nvPr/>
        </p:nvSpPr>
        <p:spPr>
          <a:xfrm>
            <a:off x="1188720" y="269748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“Give me a status of both plants”</a:t>
            </a:r>
            <a:endParaRPr lang="en-US" sz="1800" dirty="0"/>
          </a:p>
        </p:txBody>
      </p:sp>
      <p:sp>
        <p:nvSpPr>
          <p:cNvPr id="10" name="Chip 3"/>
          <p:cNvSpPr/>
          <p:nvPr/>
        </p:nvSpPr>
        <p:spPr>
          <a:xfrm>
            <a:off x="548640" y="35661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Chip 3 text"/>
          <p:cNvSpPr txBox="1"/>
          <p:nvPr/>
        </p:nvSpPr>
        <p:spPr>
          <a:xfrm>
            <a:off x="548640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Step 3"/>
          <p:cNvSpPr txBox="1"/>
          <p:nvPr/>
        </p:nvSpPr>
        <p:spPr>
          <a:xfrm>
            <a:off x="1188720" y="35661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“Show me Plant 2, floor 3”</a:t>
            </a:r>
            <a:endParaRPr lang="en-US" sz="1800" dirty="0"/>
          </a:p>
        </p:txBody>
      </p:sp>
      <p:sp>
        <p:nvSpPr>
          <p:cNvPr id="13" name="Chip 4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Chip 4 text"/>
          <p:cNvSpPr txBox="1"/>
          <p:nvPr/>
        </p:nvSpPr>
        <p:spPr>
          <a:xfrm>
            <a:off x="548640" y="4434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Step 4"/>
          <p:cNvSpPr txBox="1"/>
          <p:nvPr/>
        </p:nvSpPr>
        <p:spPr>
          <a:xfrm>
            <a:off x="1188720" y="44348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“Any safety issues in the last ten minutes?”</a:t>
            </a:r>
            <a:endParaRPr lang="en-US" sz="1800" dirty="0"/>
          </a:p>
        </p:txBody>
      </p:sp>
      <p:sp>
        <p:nvSpPr>
          <p:cNvPr id="16" name="Chip 5"/>
          <p:cNvSpPr/>
          <p:nvPr/>
        </p:nvSpPr>
        <p:spPr>
          <a:xfrm>
            <a:off x="6217920" y="182880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Chip 5 text"/>
          <p:cNvSpPr txBox="1"/>
          <p:nvPr/>
        </p:nvSpPr>
        <p:spPr>
          <a:xfrm>
            <a:off x="621792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Step 5"/>
          <p:cNvSpPr txBox="1"/>
          <p:nvPr/>
        </p:nvSpPr>
        <p:spPr>
          <a:xfrm>
            <a:off x="6858000" y="18288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Click the restricted-zone alert on Plant 1, floor 2</a:t>
            </a:r>
            <a:endParaRPr lang="en-US" sz="1800" dirty="0"/>
          </a:p>
        </p:txBody>
      </p:sp>
      <p:sp>
        <p:nvSpPr>
          <p:cNvPr id="19" name="Chip 6"/>
          <p:cNvSpPr/>
          <p:nvPr/>
        </p:nvSpPr>
        <p:spPr>
          <a:xfrm>
            <a:off x="6217920" y="26974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Chip 6 text"/>
          <p:cNvSpPr txBox="1"/>
          <p:nvPr/>
        </p:nvSpPr>
        <p:spPr>
          <a:xfrm>
            <a:off x="621792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Step 6"/>
          <p:cNvSpPr txBox="1"/>
          <p:nvPr/>
        </p:nvSpPr>
        <p:spPr>
          <a:xfrm>
            <a:off x="6858000" y="269748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“Who is this person?”</a:t>
            </a:r>
            <a:endParaRPr lang="en-US" sz="1800" dirty="0"/>
          </a:p>
        </p:txBody>
      </p:sp>
      <p:sp>
        <p:nvSpPr>
          <p:cNvPr id="22" name="Chip 7"/>
          <p:cNvSpPr/>
          <p:nvPr/>
        </p:nvSpPr>
        <p:spPr>
          <a:xfrm>
            <a:off x="6217920" y="35661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Chip 7 text"/>
          <p:cNvSpPr txBox="1"/>
          <p:nvPr/>
        </p:nvSpPr>
        <p:spPr>
          <a:xfrm>
            <a:off x="6217920" y="3566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7</a:t>
            </a:r>
            <a:endParaRPr lang="en-US" sz="1400" dirty="0"/>
          </a:p>
        </p:txBody>
      </p:sp>
      <p:sp>
        <p:nvSpPr>
          <p:cNvPr id="24" name="Step 7"/>
          <p:cNvSpPr txBox="1"/>
          <p:nvPr/>
        </p:nvSpPr>
        <p:spPr>
          <a:xfrm>
            <a:off x="6858000" y="35661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“Write the incident report”</a:t>
            </a:r>
            <a:endParaRPr lang="en-US" sz="1800" dirty="0"/>
          </a:p>
        </p:txBody>
      </p:sp>
      <p:sp>
        <p:nvSpPr>
          <p:cNvPr id="25" name="Judge card"/>
          <p:cNvSpPr/>
          <p:nvPr/>
        </p:nvSpPr>
        <p:spPr>
          <a:xfrm>
            <a:off x="6217920" y="4434840"/>
            <a:ext cx="5394960" cy="822960"/>
          </a:xfrm>
          <a:prstGeom prst="roundRect">
            <a:avLst>
              <a:gd name="adj" fmla="val 1111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Judge text"/>
          <p:cNvSpPr txBox="1"/>
          <p:nvPr/>
        </p:nvSpPr>
        <p:spPr>
          <a:xfrm>
            <a:off x="6446520" y="4434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Then one unscripted question from a judge.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Why it matters: answers at the speed of a question, with data that stays on site</a:t>
            </a:r>
            <a:endParaRPr lang="en-US" sz="3000" dirty="0"/>
          </a:p>
        </p:txBody>
      </p:sp>
      <p:sp>
        <p:nvSpPr>
          <p:cNvPr id="4" name="Value card 1"/>
          <p:cNvSpPr/>
          <p:nvPr/>
        </p:nvSpPr>
        <p:spPr>
          <a:xfrm>
            <a:off x="548640" y="1783080"/>
            <a:ext cx="5422392" cy="1737360"/>
          </a:xfrm>
          <a:prstGeom prst="roundRect">
            <a:avLst>
              <a:gd name="adj" fmla="val 526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Value 1 head"/>
          <p:cNvSpPr txBox="1"/>
          <p:nvPr/>
        </p:nvSpPr>
        <p:spPr>
          <a:xfrm>
            <a:off x="868680" y="2039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Safety</a:t>
            </a:r>
            <a:endParaRPr lang="en-US" sz="2000" dirty="0"/>
          </a:p>
        </p:txBody>
      </p:sp>
      <p:sp>
        <p:nvSpPr>
          <p:cNvPr id="6" name="Value 1 body"/>
          <p:cNvSpPr txBox="1"/>
          <p:nvPr/>
        </p:nvSpPr>
        <p:spPr>
          <a:xfrm>
            <a:off x="868680" y="2514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Events are seen, named and written up in the moment, not at the end of a shift.</a:t>
            </a:r>
            <a:endParaRPr lang="en-US" sz="1500" dirty="0"/>
          </a:p>
        </p:txBody>
      </p:sp>
      <p:sp>
        <p:nvSpPr>
          <p:cNvPr id="7" name="Value card 2"/>
          <p:cNvSpPr/>
          <p:nvPr/>
        </p:nvSpPr>
        <p:spPr>
          <a:xfrm>
            <a:off x="6217920" y="1783080"/>
            <a:ext cx="5422392" cy="1737360"/>
          </a:xfrm>
          <a:prstGeom prst="roundRect">
            <a:avLst>
              <a:gd name="adj" fmla="val 526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Value 2 head"/>
          <p:cNvSpPr txBox="1"/>
          <p:nvPr/>
        </p:nvSpPr>
        <p:spPr>
          <a:xfrm>
            <a:off x="6537960" y="2039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Operations</a:t>
            </a:r>
            <a:endParaRPr lang="en-US" sz="2000" dirty="0"/>
          </a:p>
        </p:txBody>
      </p:sp>
      <p:sp>
        <p:nvSpPr>
          <p:cNvPr id="9" name="Value 2 body"/>
          <p:cNvSpPr txBox="1"/>
          <p:nvPr/>
        </p:nvSpPr>
        <p:spPr>
          <a:xfrm>
            <a:off x="6537960" y="2514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One person can ask about any floor without walking to it.</a:t>
            </a:r>
            <a:endParaRPr lang="en-US" sz="1500" dirty="0"/>
          </a:p>
        </p:txBody>
      </p:sp>
      <p:sp>
        <p:nvSpPr>
          <p:cNvPr id="10" name="Value card 3"/>
          <p:cNvSpPr/>
          <p:nvPr/>
        </p:nvSpPr>
        <p:spPr>
          <a:xfrm>
            <a:off x="548640" y="3794760"/>
            <a:ext cx="5422392" cy="1737360"/>
          </a:xfrm>
          <a:prstGeom prst="roundRect">
            <a:avLst>
              <a:gd name="adj" fmla="val 526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Value 3 head"/>
          <p:cNvSpPr txBox="1"/>
          <p:nvPr/>
        </p:nvSpPr>
        <p:spPr>
          <a:xfrm>
            <a:off x="868680" y="40507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Privacy and cost</a:t>
            </a:r>
            <a:endParaRPr lang="en-US" sz="2000" dirty="0"/>
          </a:p>
        </p:txBody>
      </p:sp>
      <p:sp>
        <p:nvSpPr>
          <p:cNvPr id="12" name="Value 3 body"/>
          <p:cNvSpPr txBox="1"/>
          <p:nvPr/>
        </p:nvSpPr>
        <p:spPr>
          <a:xfrm>
            <a:off x="868680" y="45262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Audio and video are processed on one device, with no cloud calls at runtime.</a:t>
            </a:r>
            <a:endParaRPr lang="en-US" sz="1500" dirty="0"/>
          </a:p>
        </p:txBody>
      </p:sp>
      <p:sp>
        <p:nvSpPr>
          <p:cNvPr id="13" name="Value card 4"/>
          <p:cNvSpPr/>
          <p:nvPr/>
        </p:nvSpPr>
        <p:spPr>
          <a:xfrm>
            <a:off x="6217920" y="3794760"/>
            <a:ext cx="5422392" cy="1737360"/>
          </a:xfrm>
          <a:prstGeom prst="roundRect">
            <a:avLst>
              <a:gd name="adj" fmla="val 526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Value 4 head"/>
          <p:cNvSpPr txBox="1"/>
          <p:nvPr/>
        </p:nvSpPr>
        <p:spPr>
          <a:xfrm>
            <a:off x="6537960" y="40507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Fit</a:t>
            </a:r>
            <a:endParaRPr lang="en-US" sz="2000" dirty="0"/>
          </a:p>
        </p:txBody>
      </p:sp>
      <p:sp>
        <p:nvSpPr>
          <p:cNvPr id="15" name="Value 4 body"/>
          <p:cNvSpPr txBox="1"/>
          <p:nvPr/>
        </p:nvSpPr>
        <p:spPr>
          <a:xfrm>
            <a:off x="6537960" y="45262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 new site is a new configuration file, not a new project.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Ask your company a question. It shows you, and it tells you.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2062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Talk-to-your-Company. Globant Physical AI Hackathon, on NVIDIA Jetson Thor.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VIDIA Globant Twin">
  <a:themeElements>
    <a:clrScheme name="NVIDIA Globant Twin">
      <a:dk1>
        <a:srgbClr val="0B0B0B"/>
      </a:dk1>
      <a:lt1>
        <a:srgbClr val="FFFFFF"/>
      </a:lt1>
      <a:dk2>
        <a:srgbClr val="1A1A1A"/>
      </a:dk2>
      <a:lt2>
        <a:srgbClr val="D9D9D9"/>
      </a:lt2>
      <a:accent1>
        <a:srgbClr val="76B900"/>
      </a:accent1>
      <a:accent2>
        <a:srgbClr val="BFD732"/>
      </a:accent2>
      <a:accent3>
        <a:srgbClr val="5C8F00"/>
      </a:accent3>
      <a:accent4>
        <a:srgbClr val="A6A6A6"/>
      </a:accent4>
      <a:accent5>
        <a:srgbClr val="F56565"/>
      </a:accent5>
      <a:accent6>
        <a:srgbClr val="2A2A2A"/>
      </a:accent6>
      <a:hlink>
        <a:srgbClr val="BFD732"/>
      </a:hlink>
      <a:folHlink>
        <a:srgbClr val="A6A6A6"/>
      </a:folHlink>
    </a:clrScheme>
    <a:fontScheme name="NVIDIA Globant Twi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Globant Physical AI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Talk-to-your-Company</dc:title>
  <dc:subject>PptxGenJS Presentation</dc:subject>
  <dc:creator>Yash Kavaiya</dc:creator>
  <cp:lastModifiedBy>Yash Kavaiya</cp:lastModifiedBy>
  <cp:revision>1</cp:revision>
  <dcterms:created xsi:type="dcterms:W3CDTF">2026-10-08T18:34:47Z</dcterms:created>
  <dcterms:modified xsi:type="dcterms:W3CDTF">2026-10-08T18:34:47Z</dcterms:modified>
</cp:coreProperties>
</file>